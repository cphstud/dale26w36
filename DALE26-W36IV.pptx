
<file path=[Content_Types].xml><?xml version="1.0" encoding="utf-8"?>
<Types xmlns="http://schemas.openxmlformats.org/package/2006/content-types"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99" r:id="rId2"/>
    <p:sldId id="370" r:id="rId3"/>
    <p:sldId id="258" r:id="rId4"/>
    <p:sldId id="386" r:id="rId5"/>
    <p:sldId id="387" r:id="rId6"/>
    <p:sldId id="388" r:id="rId7"/>
    <p:sldId id="389" r:id="rId8"/>
    <p:sldId id="390" r:id="rId9"/>
    <p:sldId id="391" r:id="rId10"/>
    <p:sldId id="287" r:id="rId11"/>
    <p:sldId id="392" r:id="rId12"/>
    <p:sldId id="290" r:id="rId13"/>
    <p:sldId id="377" r:id="rId14"/>
    <p:sldId id="393" r:id="rId15"/>
    <p:sldId id="291" r:id="rId16"/>
    <p:sldId id="278" r:id="rId17"/>
    <p:sldId id="294" r:id="rId18"/>
    <p:sldId id="396" r:id="rId19"/>
    <p:sldId id="394" r:id="rId20"/>
    <p:sldId id="397" r:id="rId21"/>
    <p:sldId id="398" r:id="rId2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AE33"/>
    <a:srgbClr val="4472C4"/>
    <a:srgbClr val="E3E0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173"/>
    <p:restoredTop sz="96327"/>
  </p:normalViewPr>
  <p:slideViewPr>
    <p:cSldViewPr snapToGrid="0">
      <p:cViewPr varScale="1">
        <p:scale>
          <a:sx n="123" d="100"/>
          <a:sy n="123" d="100"/>
        </p:scale>
        <p:origin x="2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09:11:58.961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0 166 24575,'56'9'0,"-1"1"0,8 1 0,2-2 0,10-3 0,4 0-1466,6 5 0,2-2 1466,5-7 0,1-1-720,-1 4 0,2 0 720,-24-4 0,2-2 0,-1 1 0,25 0 0,0 0 0,-21 0 0,3 0 0,-4 0 0,22 0 0,-3 0 0,1-1 0,-2 2 0,-13 3 0,-4 1 0,-12-4 0,-2 0 0,0 4 0,-2 0 0,37 3 897,-3-6-897,-30 6 0,-17-8 0,-1 7 1366,-9-5-1366,23 19 1990,-10-18-1990,14 18 0,-21-19 119,-5 5-119,-25-7 0,0 0 0,-4 0 0,4 0 0,0 0 0,12-5 0,1 4 0,7-9 0,14 9 0,3-11 0,-7 11 0,2-6 0,-26 7 0,1 0 0,-11-15 0,-8 5 0,-1-21 0,-6 13 0,-8-26 0,-1 16 0,0-7 0,1 5 0,10 16 0,-4-10 0,5 8 0,-3 4 0,6-4 0,-10 7 0,9-2 0,-2 10 0,26 19 0,-6-2 0,14 14 0,-7-16 0,-8-2 0,4 0 0,-11-3 0,0 3 0,-4-4 0,0 0 0,-4 0 0,3 4 0,8 8 0,-2-2 0,2 5 0,-4-10 0,-6-2 0,6-6 0,-6 2 0,3-3 0,-4 5 0,0-1 0,-4 3 0,0 2 0,-5-1 0,1 4 0,0-7 0,0 6 0,0-2 0,0 3 0,0 0 0,0-4 0,3 0 0,-5 0 0,4-3 0,-2 2 0,1-3 0,6 1 0,-6-1 0,2 3 0,1-2 0,-3 3 0,2-4 0,-3 4 0,4-3 0,-7 6 0,4 5 0,-1-6 0,3 5 0,5 13 0,0-14 0,0 19 0,-3-25 0,2 0 0,-3-8 0,4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09:17:41.443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503 33 24575,'-8'-8'0,"3"0"0,2 0 0,-1 3 0,0 2 0,-4 3 0,-1 0 0,-2 0 0,2 0 0,-3 3 0,4-2 0,-4 3 0,0 0 0,-1-4 0,2 8 0,3-4 0,-11 5 0,8 0 0,-11-4 0,13 3 0,-3-4 0,4 1 0,0-2 0,3 1 0,-2-3 0,3 6 0,-42 19 0,25-13 0,-26 16 0,39-21 0,1 0 0,2-3 0,-3 6 0,0-10 0,0 14 0,0-10 0,-4 7 0,3-4 0,-8 11 0,7-5 0,0 9 0,-1-6 0,5-5 0,-2 3 0,5-6 0,3 3 0,-4-7 0,3 2 0,-2-3 0,3 4 0,0 4 0,0 1 0,0-1 0,0 3 0,0-2 0,0 0 0,0 9 0,3-8 0,-2 10 0,6-8 0,-2 0 0,3 0 0,-4 0 0,4-3 0,-8-2 0,8-2 0,-4-5 0,1 3 0,2-2 0,-3 3 0,4 0 0,0 4 0,1-7 0,-1 6 0,0-7 0,0 4 0,0 0 0,4 0 0,-3 1 0,2-1 0,-3 0 0,0-4 0,38 8 0,-28-10 0,38 11 0,-34-7 0,23 7 0,-9-6 0,10 4 0,0 4 0,-11-2 0,24 10 0,-23-12 0,-1 1 0,-16-7 0,-11-1 0,4-1 0,-3-2 0,6 6 0,-6-6 0,2 3 0,15-25 0,-3 6 0,5-15 0,-6 11 0,-13 3 0,20-14 0,-10 4 0,8-2 0,-3 3 0,-12 4 0,4 5 0,-8-3 0,-3 7 0,-1 3 0,9-13 0,-10 8 0,10-10 0,-12 12 0,7-11 0,-3 12 0,1-7 0,1 10 0,-6-1 0,2 1 0,-3 0 0,0-11 0,0 5 0,-3-9 0,-12-14 0,8 16 0,-11-16 0,14 21 0,-1 3 0,-2-2 0,6 6 0,-6-6 0,3 6 0,-5-3 0,5 4 0,-3 0 0,2 0 0,-6 3 0,2-2 0,1 3 0,0-1 0,4-2 0,-4 6 0,0-6 0,0 6 0,0-6 0,-1 6 0,1-3 0,0 4 0,0-3 0,0 2 0,0-3 0,-4 1 0,3 2 0,-2-3 0,3 1 0,-11-3 0,8-3 0,-8 4 0,11 1 0,0 1 0,0 2 0,0-6 0,-4 6 0,0-7 0,-1 8 0,1-4 0,4 4 0,-10-5 0,3 0 0,-8-4 0,10 5 0,2 0 0,3 0 0,-1 4 0,-9-4 0,7 4 0,-12 0 0,4 0 0,1 0 0,-5 0 0,10 0 0,-2 0 0,6 0 0,-3 0 0,4 4 0,0 0 0,0 1 0,0 2 0,0-6 0,0 2 0,3-3 0,1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09:17:44.974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1185 208 24575,'-21'-6'0,"2"1"0,7 1 0,3 3 0,-2-2 0,-1 3 0,3 0 0,-6 0 0,2 0 0,-3 0 0,0 0 0,-7 0 0,5 0 0,-2 0 0,5 0 0,6 0 0,-7 0 0,7 0 0,-13 0 0,11 0 0,-11 0 0,13 0 0,-6 0 0,6 0 0,-3 0 0,4 0 0,0 0 0,0 0 0,-4 0 0,0 0 0,-1 0 0,-2 0 0,6 0 0,-3 0 0,0 0 0,3 0 0,-6 0 0,6 0 0,-3 0 0,1 0 0,2 0 0,-3 0 0,0 0 0,3 0 0,-2 0 0,3 0 0,-4 0 0,3 0 0,-3 0 0,4 0 0,0 0 0,0 0 0,0 0 0,-4 0 0,0 0 0,-1 0 0,-2 0 0,2 0 0,1 0 0,-3 0 0,-5 0 0,2 0 0,-5 0 0,-1 0 0,6 0 0,-5 0 0,10 0 0,2 0 0,3 0 0,-4 0 0,-1 0 0,-23 0 0,7 0 0,-17-5 0,21 4 0,6-4 0,7 5 0,4 0 0,-4 0 0,3 0 0,5 0 0,5-4 0,7 0 0,0-4 0,-4 0 0,3 0 0,-2 3 0,3-2 0,-3 2 0,2-3 0,-3 0 0,1 0 0,2 0 0,-3 0 0,4 0 0,1 0 0,-1 0 0,0 0 0,3 0 0,-5 0 0,5 3 0,-7-2 0,4 6 0,0-3 0,0 4 0,0 0 0,-3-3 0,2 2 0,-6-6 0,10 2 0,-6 1 0,7 0 0,-11 4 0,-6 4 0,-7-3 0,-5 6 0,5-6 0,0 6 0,4-3 0,-4 1 0,3 6 0,-6-6 0,3 10 0,-5-6 0,-12 20 0,9-16 0,-3 12 0,13-17 0,5 0 0,-3-3 0,4 2 0,0-3 0,0 1 0,3 2 0,-2-2 0,-1 3 0,0 0 0,-4 3 0,0-2 0,7-1 0,2-4 0,7 0 0,0 0 0,0 4 0,0 4 0,0 0 0,4 5 0,-3-1 0,8 7 0,10 9 0,2 15 0,5-5 0,-13 4 0,-1-14 0,-9-10 0,-1-3 0,-2-11 0,-8-4 0,4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09:22:22.5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24575,'45'32'0,"0"0"0,7 9 0,4 4 0,-6-7 0,5 1 0,3 3-3277,17 17 0,6 5 0,-1-2 2928,-3-5 0,1-1 0,3 3 349,-5-5 0,5 4 0,0-1 0,-2-1-594,-5-5 1,-1-2 0,-1 1-1,1-2 594,3 2 0,0-1 0,0 0 0,-2 0 0,-4-3 0,-2 0 0,1 0 0,0-2 185,2 0 1,1-1 0,0-1 0,-4 0-186,8 9 0,-4-1 0,-2-2 0,-4-7 0,-2-1 0,-4-3 0,6 7 0,-7-2 0,-12-3 0,-5-2 0,15 3 0,-1 16 0,-23-23 0,0 0 0,23 15 0,-4 11 3669,4-14-3669,-6 18 0,-12-29 5766,-20-11-5766,11 2 3074,-14-6-3074,9-2 0,35 36 0,12 2 0,-27-17 0,2 3-500,17 6 1,0 2 499,-13-1 0,0-1 0,22 5 0,0-1 0,-23-8 0,-2-2 0,5-5 0,-3-2 0,13 18 0,-10-12 0,-6 4 0,-20-22 0,4 4 0,-14-11 0,26 24 0,15 1 0,14 13 0,-24-20 0,0-1 0,34 7 0,-31-5 0,-3-2 999,12-2-999,-12 0 0,-32-22 0,-10-1 0,6-6 0,-13 3 0,-5-19 0,-20-9 0,5 1 0,-10-13 0,15 25 0,-2-12 0,7 18 0,0-6 0,8 7 0,-4-4 0,4 3 0,-4-6 0,0 6 0,3-7 0,2 4 0,3 0 0,0 0 0,0 0 0,0-4 0,0 3 0,0-2 0,0 3 0,0 0 0,0 0 0,0-1 0,0 1 0,0 0 0,0 0 0,3-3 0,-2-2 0,3 0 0,-4 9 0,7 29 0,4 0 0,8 21 0,2-14 0,-5-7 0,-1 5 0,-5-4 0,3-1 0,1-2 0,-2-10 0,0 2 0,-4-10 0,0 6 0,0-7 0,4 8 0,-3-3 0,2 3 0,-2-4 0,2 0 0,-2-4 0,-15 0 0,-8 1 0,-11 0 0,-19 7 0,2 1 0,0-1 0,-16 3 0,41-10 0,-19 5 0,23-5 0,-3 3 0,0-3 0,0 2 0,3-3 0,-2 1 0,6 2 0,-7-3 0,7 1 0,-2-2 0,6 1 0,-2-3 0,3 3 0,-15-14 0,4 0 0,-10-15 0,15 14 0,1-3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4T22:16:21.9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10 24575,'79'0'0,"-1"0"0,-13 0 0,-10 0 0,-19 0 0,-12 0 0,-3 0 0,3 0 0,-5 0 0,-1 0 0,1 0 0,0-4 0,5 3 0,-4-4 0,5 5 0,-1 0 0,-4 0 0,4 0 0,-5 0 0,5 0 0,-4 0 0,4 0 0,-5 0 0,5 0 0,-3 0 0,8 0 0,-9 0 0,5 0 0,-7 0 0,7 0 0,-5 0 0,4 4 0,-5 2 0,0-1 0,-1 3 0,1-2 0,0-1 0,0-1 0,0-4 0,-1 0 0,1 0 0,0 0 0,-5 0 0,-1 0 0,-4 0 0,-1 0 0,1 0 0,-1 0 0,-27 0 0,-4 0 0,-20 0 0,-7 0 0,15 0 0,-15 0 0,11 0 0,-6 0 0,6 0 0,2 0 0,11 0 0,-4 0 0,10 0 0,-10 0 0,10 0 0,-4 4 0,5-3 0,4 7 0,-8-7 0,12 7 0,-12-3 0,8 0 0,-3-1 0,-1-4 0,0 0 0,0 0 0,4 0 0,-2 0 0,2 0 0,-4 0 0,0 0 0,0 0 0,0 0 0,5 0 0,-4 0 0,8 0 0,-2 0 0,3 0 0,4-4 0,2 0 0,3-4 0,0 0 0,0 3 0,0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4T22:16:27.23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10 24575,'11'-4'0,"18"0"0,36 3 0,31 1 0,8 1 0,-17-1 0,-10 0 0,1 0-1058,-5 2 0,16 0 0,4 1 1,-7 1-1,-18-1 1058,-13 1 0,-7 2 0,15 4 0,1 2 574,-13-1 0,-2-1-574,42 5 0,-5 10 0,-7-4 0,-6 4 0,12 2 0,-14 4 0,-1 1 0,-8-5 0,-3 6 949,-11-7-949,5 4 0,-12 4 0,3-11 2785,-15 9-2785,2-11 407,-11 4-407,-2-7 0,-3 1 0,-1 0 0,-5 0 0,-4 0 0,4 5 0,-8-4 0,4 10 0,-1-5 0,-3 1 0,9 3 0,-5-3 0,6 5 0,-1 6 0,1-5 0,5 12 0,1-6 0,5 1 0,0 5 0,-1-12 0,0 5 0,0 0 0,0-4 0,1 10 0,-1-10 0,5 18 0,-4-17 0,3 11 0,-9-14 0,4 0 0,-4 0 0,0-1 0,3 1 0,-3 0 0,6 6 0,-1 2 0,2 6 0,-1 0 0,-4 0 0,3 0 0,-3 7 0,0-5 0,4 5 0,-5-7 0,1 0 0,2-7 0,-8 0 0,3-7 0,0 0 0,-4-6 0,3 5 0,0-10 0,-3 4 0,3-5 0,-5 0 0,5-1 0,-4 1 0,8 0 0,-8 0 0,8 0 0,-3-1 0,-1 1 0,4-4 0,-3 3 0,4 2 0,0 0 0,1 4 0,0 0 0,-1-4 0,1 10 0,4-9 0,-2 9 0,3-9 0,-6 3 0,0-5 0,5 0 0,-4 0 0,5-3 0,2 6 0,-6-7 0,6 4 0,-3-5 0,-4 0 0,4-3 0,-5 2 0,0-3 0,0-1 0,-5 0 0,4 0 0,-9 0 0,4 0 0,-4-1 0,-1 1 0,1-1 0,4-3 0,-3 3 0,7-3 0,-7 3 0,8 2 0,-9-5 0,9 3 0,-4-7 0,0 7 0,0-7 0,-6 3 0,1-4 0,-1 0 0,-3-7 0,-6-3 0,-4-8 0,-9-1 0,4 0 0,-4 0 0,4 0 0,1 5 0,0-4 0,4 8 0,1-3 0,4 5 0,0-1 0,0 0 0,0 1 0,0-1 0,0 0 0,0 1 0,0 7 0,0 6 0,0 4 0,0 3 0,0 1 0,0 1 0,4 1 0,-4-2 0,8-5 0,-7 1 0,3-1 0,-4 1 0,0-1 0,0 0 0,0 0 0,4-3 0,-4 2 0,8-2 0,-3 12 0,4-7 0,0 7 0,-5-8 0,4-1 0,-7 1 0,6-5 0,-9 0 0,-4-4 0,-8 0 0,-17 0 0,4-5 0,-16-1 0,4-5 0,-6 0 0,-1 5 0,1-4 0,7 8 0,-6-3 0,11 5 0,-4 0 0,6 0 0,5 0 0,7 0 0,1 0 0,8 0 0,-3 0 0,4 0 0,5 0 0,0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ED422D-43E3-493E-D9AD-B582D4258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842B8B2A-6CAB-49B0-D7FA-D8E24B76AA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EEF2784-FF6A-E2ED-8A0A-211B39F2B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FC32-A501-664A-AEEA-1E5B35F9F077}" type="datetimeFigureOut">
              <a:t>31.08.2026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8FEC4FB-5491-B15C-1167-61ABE3D53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BDCD705-F648-FBE0-019C-7492014F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5ECCE-BEE1-C544-9866-8DECF312C3F3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36832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3028FA-CB50-8ECC-D58E-14074DA7D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EEEC12C-5E29-6A27-DCB2-D4C0275F4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8CB2F37-3346-49D9-B1C4-0F39AB13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FC32-A501-664A-AEEA-1E5B35F9F077}" type="datetimeFigureOut">
              <a:t>31.08.2026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BFBD1C3-9C83-9C88-1277-501EEA0CA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670BF36-AB5B-7AA6-9485-D64A4F63B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5ECCE-BEE1-C544-9866-8DECF312C3F3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30878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65AB9E-B2B8-9203-1822-B52DD588A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E5052C53-3169-C56E-5E97-455B6E5EF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7E4A999-4FA1-E71D-86D2-698B002F3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FC32-A501-664A-AEEA-1E5B35F9F077}" type="datetimeFigureOut">
              <a:t>31.08.2026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53F5ADE-660B-B3E0-FEC1-D9776843B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C95EA9D-2FEC-5D74-5576-5D280DB2B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5ECCE-BEE1-C544-9866-8DECF312C3F3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20471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9A5C06-CBCD-4AB9-8A0C-83C487C90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EB88257-04C4-4F4C-5BC6-35D31B4DBB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92F8C5F5-AD59-ABDB-EC85-71BE83C63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0385CBF8-B20C-68D3-C63E-72C57F74F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FC32-A501-664A-AEEA-1E5B35F9F077}" type="datetimeFigureOut">
              <a:t>31.08.2026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2A817342-B12E-7A40-7562-427905570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AB2D0ED8-6AA1-9319-61EE-5532E09A7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5ECCE-BEE1-C544-9866-8DECF312C3F3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80011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354211-4697-DDB4-8F1C-A60078848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4D58E8B9-1895-F77C-765E-AA62E90F4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5E4A86A3-0228-348B-940E-A165A7009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B4D9D536-57F7-348E-2E4F-7F366F46BB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FCA0F833-389D-23E7-75CA-0F9D62D8FE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8EB42BB8-F7D7-98B8-AB8F-0CF04574C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FC32-A501-664A-AEEA-1E5B35F9F077}" type="datetimeFigureOut">
              <a:t>31.08.2026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D37C8112-23B3-40C6-A07E-BABDC9C61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E0ED19E0-48B4-9C45-6D1A-D92066C85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5ECCE-BEE1-C544-9866-8DECF312C3F3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21295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BF64C6-97D6-C79E-786F-6568A74B0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342A4935-A21D-570D-48E9-7BD71F8D8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FC32-A501-664A-AEEA-1E5B35F9F077}" type="datetimeFigureOut">
              <a:t>31.08.2026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F57E69D0-42DF-7639-8A63-8F44B567F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5A451596-27A5-BCE9-FA4D-5DD7ECE77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5ECCE-BEE1-C544-9866-8DECF312C3F3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76802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9096915E-9D94-DDB4-EEB8-4467B6430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FC32-A501-664A-AEEA-1E5B35F9F077}" type="datetimeFigureOut">
              <a:t>31.08.2026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E6592DD7-3F18-B26A-B12D-87E7BC3B3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81834BA-EBD5-250F-1C7E-B8A9D61B8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5ECCE-BEE1-C544-9866-8DECF312C3F3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34226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475181-5671-2E5B-0F0B-D43A7898A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C08E53F-274F-2ECF-0D36-BE314304C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E7B7E1DA-B8B9-5C51-5538-2EE9A5C40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07F2B8B-5FC1-3802-571F-A66F68B87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FC32-A501-664A-AEEA-1E5B35F9F077}" type="datetimeFigureOut">
              <a:t>31.08.2026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08BC612A-D59F-F8C2-1C4B-FFE4DDFDD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9709E829-5376-515C-1893-8FB97F5BA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5ECCE-BEE1-C544-9866-8DECF312C3F3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44777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15FA47-142B-447B-6C1C-73F1BB0E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5AAFDEC8-64AC-84C0-9DA1-621F6B5742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4C8BF3FD-0F50-6498-1EED-7E355374AC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DE11C67-02A7-F7A2-6BC7-156D6BE8B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FC32-A501-664A-AEEA-1E5B35F9F077}" type="datetimeFigureOut">
              <a:t>31.08.2026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0F5FE1C6-5B01-244E-41EA-7904A53A2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B1FE0733-3B37-F471-03AB-B9C5CB475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5ECCE-BEE1-C544-9866-8DECF312C3F3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12336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8FE87E-9027-CE02-44FE-D7DB5EEDD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452D2B43-4DD9-EA69-B63E-A6189CE103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D9302B8-5755-9DC5-6732-7056ACEE8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FC32-A501-664A-AEEA-1E5B35F9F077}" type="datetimeFigureOut">
              <a:t>31.08.2026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F4C23AA-1B6C-73F9-5BD4-F0D452EB2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CBF90BA-9B17-02B0-7E5B-07BECB4A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5ECCE-BEE1-C544-9866-8DECF312C3F3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31857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F2A0D6B3-5E56-1B65-93D6-578389D004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2450EB09-4C6B-5ECB-2391-D3041F8A11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C00DDDD-32F0-C10C-1377-2A14DFBAF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FC32-A501-664A-AEEA-1E5B35F9F077}" type="datetimeFigureOut">
              <a:t>31.08.2026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940B9C3-A306-D7BC-A1FF-7BAA13889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B40448B-F23F-A187-DD5A-B060EB21E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5ECCE-BEE1-C544-9866-8DECF312C3F3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84961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6FB165EA-4A45-1C52-418F-0DA12144B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7391571D-1C2B-8948-AE0E-37392FAE9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086C1FDC-289B-935F-1891-6699006A3F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DDFC32-A501-664A-AEEA-1E5B35F9F077}" type="datetimeFigureOut">
              <a:t>31.08.2026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61C68E9-FDB7-7A2D-FEE7-9461AF1BE4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0C80D7F-DFE9-F1AB-73DD-3C06059F9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5ECCE-BEE1-C544-9866-8DECF312C3F3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36570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customXml" Target="../ink/ink1.xml"/><Relationship Id="rId7" Type="http://schemas.openxmlformats.org/officeDocument/2006/relationships/image" Target="../media/image95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97.png"/><Relationship Id="rId5" Type="http://schemas.openxmlformats.org/officeDocument/2006/relationships/image" Target="../media/image27.png"/><Relationship Id="rId10" Type="http://schemas.openxmlformats.org/officeDocument/2006/relationships/customXml" Target="../ink/ink4.xml"/><Relationship Id="rId4" Type="http://schemas.openxmlformats.org/officeDocument/2006/relationships/image" Target="../media/image930.png"/><Relationship Id="rId9" Type="http://schemas.openxmlformats.org/officeDocument/2006/relationships/image" Target="../media/image96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customXml" Target="../ink/ink6.xml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customXml" Target="../ink/ink5.xml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bmp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306FE-E2D1-7473-B3BF-2C13F0B2E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felt 4">
            <a:extLst>
              <a:ext uri="{FF2B5EF4-FFF2-40B4-BE49-F238E27FC236}">
                <a16:creationId xmlns:a16="http://schemas.microsoft.com/office/drawing/2014/main" id="{D741CF70-E9D9-30D7-DDCE-397BC288EF75}"/>
              </a:ext>
            </a:extLst>
          </p:cNvPr>
          <p:cNvSpPr txBox="1"/>
          <p:nvPr/>
        </p:nvSpPr>
        <p:spPr>
          <a:xfrm>
            <a:off x="1693719" y="1433945"/>
            <a:ext cx="299383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800"/>
              <a:t>Agenda</a:t>
            </a:r>
            <a:endParaRPr lang="da-DK"/>
          </a:p>
          <a:p>
            <a:pPr marL="342900" indent="-342900">
              <a:buAutoNum type="arabicParenR"/>
            </a:pPr>
            <a:r>
              <a:rPr lang="da-DK"/>
              <a:t>Gennemløb af (nye) slides</a:t>
            </a:r>
          </a:p>
          <a:p>
            <a:pPr marL="342900" indent="-342900">
              <a:buAutoNum type="arabicParenR"/>
            </a:pPr>
            <a:r>
              <a:rPr lang="da-DK"/>
              <a:t>Udvalgte opgaver</a:t>
            </a:r>
          </a:p>
          <a:p>
            <a:pPr marL="342900" indent="-342900">
              <a:buAutoNum type="arabicParenR"/>
            </a:pPr>
            <a:r>
              <a:rPr lang="da-DK"/>
              <a:t>Baum om corr/kaus/linreg</a:t>
            </a:r>
          </a:p>
          <a:p>
            <a:pPr marL="342900" indent="-342900">
              <a:buAutoNum type="arabicParenR"/>
            </a:pPr>
            <a:r>
              <a:rPr lang="da-DK"/>
              <a:t>Pairprogramming</a:t>
            </a:r>
          </a:p>
        </p:txBody>
      </p:sp>
    </p:spTree>
    <p:extLst>
      <p:ext uri="{BB962C8B-B14F-4D97-AF65-F5344CB8AC3E}">
        <p14:creationId xmlns:p14="http://schemas.microsoft.com/office/powerpoint/2010/main" val="1752904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DAD4EC71-2E5A-072A-564F-7E7B8A29464F}"/>
              </a:ext>
            </a:extLst>
          </p:cNvPr>
          <p:cNvSpPr txBox="1">
            <a:spLocks/>
          </p:cNvSpPr>
          <p:nvPr/>
        </p:nvSpPr>
        <p:spPr>
          <a:xfrm>
            <a:off x="343930" y="2443848"/>
            <a:ext cx="4104503" cy="19703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a-DK" sz="5400">
                <a:solidFill>
                  <a:schemeClr val="accent2"/>
                </a:solidFill>
              </a:rPr>
              <a:t>DATA SCIENCE </a:t>
            </a:r>
          </a:p>
          <a:p>
            <a:pPr algn="ctr"/>
            <a:r>
              <a:rPr lang="da-DK" sz="5400">
                <a:solidFill>
                  <a:schemeClr val="accent2"/>
                </a:solidFill>
              </a:rPr>
              <a:t>MODELLEN</a:t>
            </a:r>
            <a:endParaRPr lang="da-DK"/>
          </a:p>
        </p:txBody>
      </p:sp>
      <p:pic>
        <p:nvPicPr>
          <p:cNvPr id="8" name="Pladsholder til indhold 4">
            <a:extLst>
              <a:ext uri="{FF2B5EF4-FFF2-40B4-BE49-F238E27FC236}">
                <a16:creationId xmlns:a16="http://schemas.microsoft.com/office/drawing/2014/main" id="{0731A18A-5BBD-9564-DB20-C61C49E704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4323" t="23062" r="43137" b="15999"/>
          <a:stretch/>
        </p:blipFill>
        <p:spPr>
          <a:xfrm>
            <a:off x="5078628" y="231203"/>
            <a:ext cx="6071288" cy="639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52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 descr="Et billede, der indeholder tekst, plakat, fugl, ugle&#10;&#10;Automatisk genereret beskrivelse">
            <a:extLst>
              <a:ext uri="{FF2B5EF4-FFF2-40B4-BE49-F238E27FC236}">
                <a16:creationId xmlns:a16="http://schemas.microsoft.com/office/drawing/2014/main" id="{08E7B861-3120-D1C9-4E6B-05AE623E9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09" y="0"/>
            <a:ext cx="5162851" cy="6858000"/>
          </a:xfrm>
          <a:prstGeom prst="rect">
            <a:avLst/>
          </a:prstGeom>
        </p:spPr>
      </p:pic>
      <p:pic>
        <p:nvPicPr>
          <p:cNvPr id="8" name="Billede 7" descr="Et billede, der indeholder tekst, fugl, plakat, næb&#10;&#10;Automatisk genereret beskrivelse">
            <a:extLst>
              <a:ext uri="{FF2B5EF4-FFF2-40B4-BE49-F238E27FC236}">
                <a16:creationId xmlns:a16="http://schemas.microsoft.com/office/drawing/2014/main" id="{61585317-1BE9-0618-28B3-C16B812C7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46517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860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8F214DA4-6449-0EBC-DA40-4FE03286F8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621" r="13197"/>
          <a:stretch/>
        </p:blipFill>
        <p:spPr>
          <a:xfrm>
            <a:off x="2598921" y="95478"/>
            <a:ext cx="3344680" cy="3400364"/>
          </a:xfrm>
          <a:prstGeom prst="rect">
            <a:avLst/>
          </a:prstGeom>
        </p:spPr>
      </p:pic>
      <p:sp>
        <p:nvSpPr>
          <p:cNvPr id="5" name="Tekstfelt 4">
            <a:extLst>
              <a:ext uri="{FF2B5EF4-FFF2-40B4-BE49-F238E27FC236}">
                <a16:creationId xmlns:a16="http://schemas.microsoft.com/office/drawing/2014/main" id="{71305D31-4B28-3B05-51A4-B1B5FAC4CE47}"/>
              </a:ext>
            </a:extLst>
          </p:cNvPr>
          <p:cNvSpPr txBox="1"/>
          <p:nvPr/>
        </p:nvSpPr>
        <p:spPr>
          <a:xfrm>
            <a:off x="843247" y="1384924"/>
            <a:ext cx="17556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800">
                <a:solidFill>
                  <a:schemeClr val="accent1"/>
                </a:solidFill>
              </a:rPr>
              <a:t>Data Typer</a:t>
            </a:r>
          </a:p>
        </p:txBody>
      </p:sp>
      <p:sp>
        <p:nvSpPr>
          <p:cNvPr id="13" name="Tekstfelt 12">
            <a:extLst>
              <a:ext uri="{FF2B5EF4-FFF2-40B4-BE49-F238E27FC236}">
                <a16:creationId xmlns:a16="http://schemas.microsoft.com/office/drawing/2014/main" id="{EC422EB8-EF76-0193-E81D-398FF6BFDD86}"/>
              </a:ext>
            </a:extLst>
          </p:cNvPr>
          <p:cNvSpPr txBox="1"/>
          <p:nvPr/>
        </p:nvSpPr>
        <p:spPr>
          <a:xfrm>
            <a:off x="6250885" y="598078"/>
            <a:ext cx="609765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/>
              <a:t>øvelse A – data-typer:</a:t>
            </a:r>
          </a:p>
          <a:p>
            <a:pPr marL="342900" indent="-342900">
              <a:buFont typeface="+mj-lt"/>
              <a:buAutoNum type="arabicPeriod"/>
            </a:pPr>
            <a:r>
              <a:rPr lang="da-DK"/>
              <a:t>Lav fem vektorer der har længden 3 som består af hhv:</a:t>
            </a:r>
          </a:p>
          <a:p>
            <a:pPr marL="800100" lvl="1" indent="-342900">
              <a:buFont typeface="+mj-lt"/>
              <a:buAutoNum type="arabicPeriod"/>
            </a:pPr>
            <a:r>
              <a:rPr lang="da-DK"/>
              <a:t>Heltal</a:t>
            </a:r>
          </a:p>
          <a:p>
            <a:pPr marL="800100" lvl="1" indent="-342900">
              <a:buFont typeface="+mj-lt"/>
              <a:buAutoNum type="arabicPeriod"/>
            </a:pPr>
            <a:r>
              <a:rPr lang="da-DK"/>
              <a:t>Decimaltal</a:t>
            </a:r>
          </a:p>
          <a:p>
            <a:pPr marL="800100" lvl="1" indent="-342900">
              <a:buFont typeface="+mj-lt"/>
              <a:buAutoNum type="arabicPeriod"/>
            </a:pPr>
            <a:r>
              <a:rPr lang="da-DK"/>
              <a:t>Booleans</a:t>
            </a:r>
          </a:p>
          <a:p>
            <a:pPr marL="800100" lvl="1" indent="-342900">
              <a:buFont typeface="+mj-lt"/>
              <a:buAutoNum type="arabicPeriod"/>
            </a:pPr>
            <a:r>
              <a:rPr lang="da-DK"/>
              <a:t>Characters</a:t>
            </a:r>
          </a:p>
          <a:p>
            <a:pPr marL="800100" lvl="1" indent="-342900">
              <a:buFont typeface="+mj-lt"/>
              <a:buAutoNum type="arabicPeriod"/>
            </a:pPr>
            <a:r>
              <a:rPr lang="da-DK"/>
              <a:t>Datoer (samme tidspunkt på 3 følgende dage)</a:t>
            </a:r>
          </a:p>
          <a:p>
            <a:r>
              <a:rPr lang="da-DK"/>
              <a:t>2. Lav v &lt;- c(T,F) og tjek type-of</a:t>
            </a:r>
          </a:p>
          <a:p>
            <a:r>
              <a:rPr lang="da-DK"/>
              <a:t>3. Lav v &lt;- c(T,F,23). Hvad er type-of?</a:t>
            </a:r>
          </a:p>
          <a:p>
            <a:endParaRPr lang="da-DK"/>
          </a:p>
          <a:p>
            <a:pPr marL="342900" indent="-342900">
              <a:buFont typeface="+mj-lt"/>
              <a:buAutoNum type="arabicPeriod"/>
            </a:pPr>
            <a:endParaRPr lang="da-DK"/>
          </a:p>
        </p:txBody>
      </p:sp>
      <p:sp>
        <p:nvSpPr>
          <p:cNvPr id="18" name="Terminalpunkt 17">
            <a:extLst>
              <a:ext uri="{FF2B5EF4-FFF2-40B4-BE49-F238E27FC236}">
                <a16:creationId xmlns:a16="http://schemas.microsoft.com/office/drawing/2014/main" id="{9EDE0679-1815-A17C-D940-969930B70C19}"/>
              </a:ext>
            </a:extLst>
          </p:cNvPr>
          <p:cNvSpPr/>
          <p:nvPr/>
        </p:nvSpPr>
        <p:spPr>
          <a:xfrm>
            <a:off x="3582184" y="3120542"/>
            <a:ext cx="1904215" cy="3753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900"/>
              <a:t>"2024-09-03 15:35:34 CEST"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91930549-F2A7-E065-2DC3-C2BAE4450A26}"/>
              </a:ext>
            </a:extLst>
          </p:cNvPr>
          <p:cNvSpPr/>
          <p:nvPr/>
        </p:nvSpPr>
        <p:spPr>
          <a:xfrm>
            <a:off x="3072282" y="2938061"/>
            <a:ext cx="712520" cy="557781"/>
          </a:xfrm>
          <a:prstGeom prst="ellipse">
            <a:avLst/>
          </a:prstGeom>
          <a:solidFill>
            <a:srgbClr val="FEAE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900" b="1">
                <a:solidFill>
                  <a:schemeClr val="tx1"/>
                </a:solidFill>
              </a:rPr>
              <a:t>Date and time</a:t>
            </a:r>
          </a:p>
        </p:txBody>
      </p:sp>
      <p:sp>
        <p:nvSpPr>
          <p:cNvPr id="19" name="Terminalpunkt 18">
            <a:extLst>
              <a:ext uri="{FF2B5EF4-FFF2-40B4-BE49-F238E27FC236}">
                <a16:creationId xmlns:a16="http://schemas.microsoft.com/office/drawing/2014/main" id="{28F84847-6FAA-85FD-CAA3-3382C3E8042D}"/>
              </a:ext>
            </a:extLst>
          </p:cNvPr>
          <p:cNvSpPr/>
          <p:nvPr/>
        </p:nvSpPr>
        <p:spPr>
          <a:xfrm>
            <a:off x="2598920" y="3625275"/>
            <a:ext cx="1904215" cy="375300"/>
          </a:xfrm>
          <a:prstGeom prst="flowChartTerminato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90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EF09728B-009C-F0DD-6B43-DB0FA79BA17D}"/>
              </a:ext>
            </a:extLst>
          </p:cNvPr>
          <p:cNvSpPr/>
          <p:nvPr/>
        </p:nvSpPr>
        <p:spPr>
          <a:xfrm>
            <a:off x="2113808" y="3453019"/>
            <a:ext cx="820196" cy="557781"/>
          </a:xfrm>
          <a:prstGeom prst="ellipse">
            <a:avLst/>
          </a:prstGeom>
          <a:solidFill>
            <a:srgbClr val="FEAE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900" b="1">
                <a:solidFill>
                  <a:schemeClr val="tx1"/>
                </a:solidFill>
              </a:rPr>
              <a:t>Factors</a:t>
            </a:r>
          </a:p>
        </p:txBody>
      </p:sp>
    </p:spTree>
    <p:extLst>
      <p:ext uri="{BB962C8B-B14F-4D97-AF65-F5344CB8AC3E}">
        <p14:creationId xmlns:p14="http://schemas.microsoft.com/office/powerpoint/2010/main" val="4053342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dsholder til indhold 4">
            <a:extLst>
              <a:ext uri="{FF2B5EF4-FFF2-40B4-BE49-F238E27FC236}">
                <a16:creationId xmlns:a16="http://schemas.microsoft.com/office/drawing/2014/main" id="{711CE031-3046-8DCA-9259-EA905C79C2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8026"/>
          <a:stretch/>
        </p:blipFill>
        <p:spPr>
          <a:xfrm>
            <a:off x="4510821" y="3304437"/>
            <a:ext cx="7480815" cy="3211457"/>
          </a:xfrm>
        </p:spPr>
      </p:pic>
      <p:sp>
        <p:nvSpPr>
          <p:cNvPr id="4" name="Tekstfelt 3">
            <a:extLst>
              <a:ext uri="{FF2B5EF4-FFF2-40B4-BE49-F238E27FC236}">
                <a16:creationId xmlns:a16="http://schemas.microsoft.com/office/drawing/2014/main" id="{792E1912-AF89-723B-41F5-F7863C0973FF}"/>
              </a:ext>
            </a:extLst>
          </p:cNvPr>
          <p:cNvSpPr txBox="1"/>
          <p:nvPr/>
        </p:nvSpPr>
        <p:spPr>
          <a:xfrm>
            <a:off x="9377646" y="2781217"/>
            <a:ext cx="24090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800">
                <a:solidFill>
                  <a:schemeClr val="accent1"/>
                </a:solidFill>
              </a:rPr>
              <a:t>Data strukturer</a:t>
            </a:r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8F214DA4-6449-0EBC-DA40-4FE03286F8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621" r="13197"/>
          <a:stretch/>
        </p:blipFill>
        <p:spPr>
          <a:xfrm>
            <a:off x="2892287" y="95478"/>
            <a:ext cx="3051313" cy="3102113"/>
          </a:xfrm>
          <a:prstGeom prst="rect">
            <a:avLst/>
          </a:prstGeom>
        </p:spPr>
      </p:pic>
      <p:sp>
        <p:nvSpPr>
          <p:cNvPr id="5" name="Tekstfelt 4">
            <a:extLst>
              <a:ext uri="{FF2B5EF4-FFF2-40B4-BE49-F238E27FC236}">
                <a16:creationId xmlns:a16="http://schemas.microsoft.com/office/drawing/2014/main" id="{71305D31-4B28-3B05-51A4-B1B5FAC4CE47}"/>
              </a:ext>
            </a:extLst>
          </p:cNvPr>
          <p:cNvSpPr txBox="1"/>
          <p:nvPr/>
        </p:nvSpPr>
        <p:spPr>
          <a:xfrm>
            <a:off x="843247" y="1384924"/>
            <a:ext cx="17556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800">
                <a:solidFill>
                  <a:schemeClr val="accent1"/>
                </a:solidFill>
              </a:rPr>
              <a:t>Data Typer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24E6A764-209D-E5FF-B900-6A601B2993FC}"/>
              </a:ext>
            </a:extLst>
          </p:cNvPr>
          <p:cNvSpPr/>
          <p:nvPr/>
        </p:nvSpPr>
        <p:spPr>
          <a:xfrm>
            <a:off x="9431758" y="4800600"/>
            <a:ext cx="2300832" cy="1570383"/>
          </a:xfrm>
          <a:prstGeom prst="rect">
            <a:avLst/>
          </a:prstGeom>
          <a:solidFill>
            <a:srgbClr val="E3E0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03948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dsholder til indhold 4">
            <a:extLst>
              <a:ext uri="{FF2B5EF4-FFF2-40B4-BE49-F238E27FC236}">
                <a16:creationId xmlns:a16="http://schemas.microsoft.com/office/drawing/2014/main" id="{711CE031-3046-8DCA-9259-EA905C79C2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8026"/>
          <a:stretch/>
        </p:blipFill>
        <p:spPr>
          <a:xfrm>
            <a:off x="4510821" y="3304437"/>
            <a:ext cx="7480815" cy="3211457"/>
          </a:xfrm>
        </p:spPr>
      </p:pic>
      <p:sp>
        <p:nvSpPr>
          <p:cNvPr id="4" name="Tekstfelt 3">
            <a:extLst>
              <a:ext uri="{FF2B5EF4-FFF2-40B4-BE49-F238E27FC236}">
                <a16:creationId xmlns:a16="http://schemas.microsoft.com/office/drawing/2014/main" id="{792E1912-AF89-723B-41F5-F7863C0973FF}"/>
              </a:ext>
            </a:extLst>
          </p:cNvPr>
          <p:cNvSpPr txBox="1"/>
          <p:nvPr/>
        </p:nvSpPr>
        <p:spPr>
          <a:xfrm>
            <a:off x="9377646" y="2781217"/>
            <a:ext cx="24090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800">
                <a:solidFill>
                  <a:schemeClr val="accent1"/>
                </a:solidFill>
              </a:rPr>
              <a:t>Data strukturer</a:t>
            </a:r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8F214DA4-6449-0EBC-DA40-4FE03286F8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621" r="13197"/>
          <a:stretch/>
        </p:blipFill>
        <p:spPr>
          <a:xfrm>
            <a:off x="2892287" y="95478"/>
            <a:ext cx="3051313" cy="3102113"/>
          </a:xfrm>
          <a:prstGeom prst="rect">
            <a:avLst/>
          </a:prstGeom>
        </p:spPr>
      </p:pic>
      <p:sp>
        <p:nvSpPr>
          <p:cNvPr id="5" name="Tekstfelt 4">
            <a:extLst>
              <a:ext uri="{FF2B5EF4-FFF2-40B4-BE49-F238E27FC236}">
                <a16:creationId xmlns:a16="http://schemas.microsoft.com/office/drawing/2014/main" id="{71305D31-4B28-3B05-51A4-B1B5FAC4CE47}"/>
              </a:ext>
            </a:extLst>
          </p:cNvPr>
          <p:cNvSpPr txBox="1"/>
          <p:nvPr/>
        </p:nvSpPr>
        <p:spPr>
          <a:xfrm>
            <a:off x="843247" y="1384924"/>
            <a:ext cx="17556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800">
                <a:solidFill>
                  <a:schemeClr val="accent1"/>
                </a:solidFill>
              </a:rPr>
              <a:t>Data Typer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24E6A764-209D-E5FF-B900-6A601B2993FC}"/>
              </a:ext>
            </a:extLst>
          </p:cNvPr>
          <p:cNvSpPr/>
          <p:nvPr/>
        </p:nvSpPr>
        <p:spPr>
          <a:xfrm>
            <a:off x="9431758" y="4800600"/>
            <a:ext cx="2300832" cy="1570383"/>
          </a:xfrm>
          <a:prstGeom prst="rect">
            <a:avLst/>
          </a:prstGeom>
          <a:solidFill>
            <a:srgbClr val="E3E0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701D1DCA-8CCC-0E48-4300-3EBD4EAE94B8}"/>
              </a:ext>
            </a:extLst>
          </p:cNvPr>
          <p:cNvSpPr/>
          <p:nvPr/>
        </p:nvSpPr>
        <p:spPr>
          <a:xfrm>
            <a:off x="4510820" y="3339782"/>
            <a:ext cx="5014179" cy="3102113"/>
          </a:xfrm>
          <a:prstGeom prst="rect">
            <a:avLst/>
          </a:prstGeom>
          <a:solidFill>
            <a:srgbClr val="E3E0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131D02E3-542B-1BB3-3CE5-A95B5332493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023" t="16779"/>
          <a:stretch/>
        </p:blipFill>
        <p:spPr>
          <a:xfrm>
            <a:off x="336751" y="3169112"/>
            <a:ext cx="5441950" cy="338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482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dsholder til indhold 4">
            <a:extLst>
              <a:ext uri="{FF2B5EF4-FFF2-40B4-BE49-F238E27FC236}">
                <a16:creationId xmlns:a16="http://schemas.microsoft.com/office/drawing/2014/main" id="{711CE031-3046-8DCA-9259-EA905C79C2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8026"/>
          <a:stretch/>
        </p:blipFill>
        <p:spPr>
          <a:xfrm>
            <a:off x="4510821" y="3304437"/>
            <a:ext cx="7480815" cy="3211457"/>
          </a:xfrm>
        </p:spPr>
      </p:pic>
      <p:sp>
        <p:nvSpPr>
          <p:cNvPr id="4" name="Tekstfelt 3">
            <a:extLst>
              <a:ext uri="{FF2B5EF4-FFF2-40B4-BE49-F238E27FC236}">
                <a16:creationId xmlns:a16="http://schemas.microsoft.com/office/drawing/2014/main" id="{792E1912-AF89-723B-41F5-F7863C0973FF}"/>
              </a:ext>
            </a:extLst>
          </p:cNvPr>
          <p:cNvSpPr txBox="1"/>
          <p:nvPr/>
        </p:nvSpPr>
        <p:spPr>
          <a:xfrm>
            <a:off x="9377646" y="2781217"/>
            <a:ext cx="24090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800">
                <a:solidFill>
                  <a:schemeClr val="accent1"/>
                </a:solidFill>
              </a:rPr>
              <a:t>Data strukturer</a:t>
            </a:r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8F214DA4-6449-0EBC-DA40-4FE03286F8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621" r="13197"/>
          <a:stretch/>
        </p:blipFill>
        <p:spPr>
          <a:xfrm>
            <a:off x="3044687" y="95477"/>
            <a:ext cx="3051313" cy="3102113"/>
          </a:xfrm>
          <a:prstGeom prst="rect">
            <a:avLst/>
          </a:prstGeom>
        </p:spPr>
      </p:pic>
      <p:sp>
        <p:nvSpPr>
          <p:cNvPr id="5" name="Tekstfelt 4">
            <a:extLst>
              <a:ext uri="{FF2B5EF4-FFF2-40B4-BE49-F238E27FC236}">
                <a16:creationId xmlns:a16="http://schemas.microsoft.com/office/drawing/2014/main" id="{71305D31-4B28-3B05-51A4-B1B5FAC4CE47}"/>
              </a:ext>
            </a:extLst>
          </p:cNvPr>
          <p:cNvSpPr txBox="1"/>
          <p:nvPr/>
        </p:nvSpPr>
        <p:spPr>
          <a:xfrm>
            <a:off x="761330" y="377006"/>
            <a:ext cx="17556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800">
                <a:solidFill>
                  <a:schemeClr val="accent1"/>
                </a:solidFill>
              </a:rPr>
              <a:t>Data Typer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24E6A764-209D-E5FF-B900-6A601B2993FC}"/>
              </a:ext>
            </a:extLst>
          </p:cNvPr>
          <p:cNvSpPr/>
          <p:nvPr/>
        </p:nvSpPr>
        <p:spPr>
          <a:xfrm>
            <a:off x="9431758" y="4800600"/>
            <a:ext cx="2300832" cy="1570383"/>
          </a:xfrm>
          <a:prstGeom prst="rect">
            <a:avLst/>
          </a:prstGeom>
          <a:solidFill>
            <a:srgbClr val="E3E0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56EE97C2-39F4-5604-71B0-B0D7F5CB16A9}"/>
              </a:ext>
            </a:extLst>
          </p:cNvPr>
          <p:cNvSpPr/>
          <p:nvPr/>
        </p:nvSpPr>
        <p:spPr>
          <a:xfrm>
            <a:off x="9485871" y="3339782"/>
            <a:ext cx="2300832" cy="1570383"/>
          </a:xfrm>
          <a:prstGeom prst="rect">
            <a:avLst/>
          </a:prstGeom>
          <a:solidFill>
            <a:srgbClr val="E3E0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3BD1243C-036E-9D5C-0D9F-66D56E5C009C}"/>
              </a:ext>
            </a:extLst>
          </p:cNvPr>
          <p:cNvSpPr/>
          <p:nvPr/>
        </p:nvSpPr>
        <p:spPr>
          <a:xfrm>
            <a:off x="4510820" y="3429000"/>
            <a:ext cx="2715479" cy="2941983"/>
          </a:xfrm>
          <a:prstGeom prst="rect">
            <a:avLst/>
          </a:prstGeom>
          <a:solidFill>
            <a:srgbClr val="E3E0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E699F576-DB45-C76E-A7EE-C3286929200B}"/>
              </a:ext>
            </a:extLst>
          </p:cNvPr>
          <p:cNvSpPr/>
          <p:nvPr/>
        </p:nvSpPr>
        <p:spPr>
          <a:xfrm>
            <a:off x="6662166" y="5307064"/>
            <a:ext cx="2715479" cy="757583"/>
          </a:xfrm>
          <a:prstGeom prst="rect">
            <a:avLst/>
          </a:prstGeom>
          <a:solidFill>
            <a:srgbClr val="E3E0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" name="Tekstfelt 10">
            <a:extLst>
              <a:ext uri="{FF2B5EF4-FFF2-40B4-BE49-F238E27FC236}">
                <a16:creationId xmlns:a16="http://schemas.microsoft.com/office/drawing/2014/main" id="{C55C65E2-883F-A7A7-A7B3-060364053519}"/>
              </a:ext>
            </a:extLst>
          </p:cNvPr>
          <p:cNvSpPr txBox="1"/>
          <p:nvPr/>
        </p:nvSpPr>
        <p:spPr>
          <a:xfrm>
            <a:off x="6623684" y="5308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/>
              <a:t>mydata=list("Kurt",21, "Verner",32,"Anton",41)</a:t>
            </a:r>
          </a:p>
        </p:txBody>
      </p:sp>
      <p:pic>
        <p:nvPicPr>
          <p:cNvPr id="13" name="Billede 12">
            <a:extLst>
              <a:ext uri="{FF2B5EF4-FFF2-40B4-BE49-F238E27FC236}">
                <a16:creationId xmlns:a16="http://schemas.microsoft.com/office/drawing/2014/main" id="{FE6E98B7-DDE0-00A3-ED8B-0E56D1A84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330" y="3042827"/>
            <a:ext cx="5969798" cy="369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263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dsholder til indhold 4">
            <a:extLst>
              <a:ext uri="{FF2B5EF4-FFF2-40B4-BE49-F238E27FC236}">
                <a16:creationId xmlns:a16="http://schemas.microsoft.com/office/drawing/2014/main" id="{711CE031-3046-8DCA-9259-EA905C79C2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8026"/>
          <a:stretch/>
        </p:blipFill>
        <p:spPr>
          <a:xfrm>
            <a:off x="4510821" y="3304437"/>
            <a:ext cx="7480815" cy="3211457"/>
          </a:xfrm>
        </p:spPr>
      </p:pic>
      <p:pic>
        <p:nvPicPr>
          <p:cNvPr id="3" name="Billede 2">
            <a:extLst>
              <a:ext uri="{FF2B5EF4-FFF2-40B4-BE49-F238E27FC236}">
                <a16:creationId xmlns:a16="http://schemas.microsoft.com/office/drawing/2014/main" id="{8F214DA4-6449-0EBC-DA40-4FE03286F8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621" r="13197"/>
          <a:stretch/>
        </p:blipFill>
        <p:spPr>
          <a:xfrm>
            <a:off x="2892287" y="95478"/>
            <a:ext cx="3051313" cy="3102113"/>
          </a:xfrm>
          <a:prstGeom prst="rect">
            <a:avLst/>
          </a:prstGeom>
        </p:spPr>
      </p:pic>
      <p:sp>
        <p:nvSpPr>
          <p:cNvPr id="5" name="Tekstfelt 4">
            <a:extLst>
              <a:ext uri="{FF2B5EF4-FFF2-40B4-BE49-F238E27FC236}">
                <a16:creationId xmlns:a16="http://schemas.microsoft.com/office/drawing/2014/main" id="{71305D31-4B28-3B05-51A4-B1B5FAC4CE47}"/>
              </a:ext>
            </a:extLst>
          </p:cNvPr>
          <p:cNvSpPr txBox="1"/>
          <p:nvPr/>
        </p:nvSpPr>
        <p:spPr>
          <a:xfrm>
            <a:off x="843247" y="1384924"/>
            <a:ext cx="17556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800">
                <a:solidFill>
                  <a:schemeClr val="accent1"/>
                </a:solidFill>
              </a:rPr>
              <a:t>Data Typer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24E6A764-209D-E5FF-B900-6A601B2993FC}"/>
              </a:ext>
            </a:extLst>
          </p:cNvPr>
          <p:cNvSpPr/>
          <p:nvPr/>
        </p:nvSpPr>
        <p:spPr>
          <a:xfrm>
            <a:off x="9431758" y="4800600"/>
            <a:ext cx="2300832" cy="1570383"/>
          </a:xfrm>
          <a:prstGeom prst="rect">
            <a:avLst/>
          </a:prstGeom>
          <a:solidFill>
            <a:srgbClr val="E3E0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56EE97C2-39F4-5604-71B0-B0D7F5CB16A9}"/>
              </a:ext>
            </a:extLst>
          </p:cNvPr>
          <p:cNvSpPr/>
          <p:nvPr/>
        </p:nvSpPr>
        <p:spPr>
          <a:xfrm>
            <a:off x="9485871" y="3339782"/>
            <a:ext cx="2300832" cy="1570383"/>
          </a:xfrm>
          <a:prstGeom prst="rect">
            <a:avLst/>
          </a:prstGeom>
          <a:solidFill>
            <a:srgbClr val="E3E0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3BD1243C-036E-9D5C-0D9F-66D56E5C009C}"/>
              </a:ext>
            </a:extLst>
          </p:cNvPr>
          <p:cNvSpPr/>
          <p:nvPr/>
        </p:nvSpPr>
        <p:spPr>
          <a:xfrm>
            <a:off x="4917220" y="3439173"/>
            <a:ext cx="2905980" cy="967727"/>
          </a:xfrm>
          <a:prstGeom prst="rect">
            <a:avLst/>
          </a:prstGeom>
          <a:solidFill>
            <a:srgbClr val="E3E0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E699F576-DB45-C76E-A7EE-C3286929200B}"/>
              </a:ext>
            </a:extLst>
          </p:cNvPr>
          <p:cNvSpPr/>
          <p:nvPr/>
        </p:nvSpPr>
        <p:spPr>
          <a:xfrm>
            <a:off x="7288219" y="3288574"/>
            <a:ext cx="2592383" cy="2103243"/>
          </a:xfrm>
          <a:prstGeom prst="rect">
            <a:avLst/>
          </a:prstGeom>
          <a:solidFill>
            <a:srgbClr val="E3E0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" name="Tekstfelt 10">
            <a:extLst>
              <a:ext uri="{FF2B5EF4-FFF2-40B4-BE49-F238E27FC236}">
                <a16:creationId xmlns:a16="http://schemas.microsoft.com/office/drawing/2014/main" id="{2B107066-B5C7-B829-A232-48F40566471A}"/>
              </a:ext>
            </a:extLst>
          </p:cNvPr>
          <p:cNvSpPr txBox="1"/>
          <p:nvPr/>
        </p:nvSpPr>
        <p:spPr>
          <a:xfrm>
            <a:off x="580373" y="2917433"/>
            <a:ext cx="10726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/>
              <a:t>mydf=data.frame(navne=c("kurt","verner","anton"),alder=c(34,54,11),by=c("Thyregod","Vejle","Hobro"))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792E1912-AF89-723B-41F5-F7863C0973FF}"/>
              </a:ext>
            </a:extLst>
          </p:cNvPr>
          <p:cNvSpPr txBox="1"/>
          <p:nvPr/>
        </p:nvSpPr>
        <p:spPr>
          <a:xfrm>
            <a:off x="9431054" y="3949895"/>
            <a:ext cx="24090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800">
                <a:solidFill>
                  <a:schemeClr val="accent1"/>
                </a:solidFill>
              </a:rPr>
              <a:t>Data strukturer</a:t>
            </a:r>
          </a:p>
        </p:txBody>
      </p:sp>
    </p:spTree>
    <p:extLst>
      <p:ext uri="{BB962C8B-B14F-4D97-AF65-F5344CB8AC3E}">
        <p14:creationId xmlns:p14="http://schemas.microsoft.com/office/powerpoint/2010/main" val="389538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dsholder til indhold 4">
            <a:extLst>
              <a:ext uri="{FF2B5EF4-FFF2-40B4-BE49-F238E27FC236}">
                <a16:creationId xmlns:a16="http://schemas.microsoft.com/office/drawing/2014/main" id="{711CE031-3046-8DCA-9259-EA905C79C2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8026"/>
          <a:stretch/>
        </p:blipFill>
        <p:spPr>
          <a:xfrm>
            <a:off x="4510821" y="3304437"/>
            <a:ext cx="7480815" cy="3211457"/>
          </a:xfrm>
        </p:spPr>
      </p:pic>
      <p:sp>
        <p:nvSpPr>
          <p:cNvPr id="4" name="Tekstfelt 3">
            <a:extLst>
              <a:ext uri="{FF2B5EF4-FFF2-40B4-BE49-F238E27FC236}">
                <a16:creationId xmlns:a16="http://schemas.microsoft.com/office/drawing/2014/main" id="{792E1912-AF89-723B-41F5-F7863C0973FF}"/>
              </a:ext>
            </a:extLst>
          </p:cNvPr>
          <p:cNvSpPr txBox="1"/>
          <p:nvPr/>
        </p:nvSpPr>
        <p:spPr>
          <a:xfrm>
            <a:off x="9377646" y="2781217"/>
            <a:ext cx="24090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800">
                <a:solidFill>
                  <a:schemeClr val="accent1"/>
                </a:solidFill>
              </a:rPr>
              <a:t>Data strukturer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24E6A764-209D-E5FF-B900-6A601B2993FC}"/>
              </a:ext>
            </a:extLst>
          </p:cNvPr>
          <p:cNvSpPr/>
          <p:nvPr/>
        </p:nvSpPr>
        <p:spPr>
          <a:xfrm>
            <a:off x="9431758" y="4800600"/>
            <a:ext cx="2300832" cy="1570383"/>
          </a:xfrm>
          <a:prstGeom prst="rect">
            <a:avLst/>
          </a:prstGeom>
          <a:solidFill>
            <a:srgbClr val="E3E0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BD83B007-A1E2-A363-B78A-0D6F96549B29}"/>
              </a:ext>
            </a:extLst>
          </p:cNvPr>
          <p:cNvSpPr txBox="1"/>
          <p:nvPr/>
        </p:nvSpPr>
        <p:spPr>
          <a:xfrm>
            <a:off x="438701" y="881980"/>
            <a:ext cx="103789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/>
              <a:t>Øvelse A – data-strukturer:</a:t>
            </a:r>
          </a:p>
          <a:p>
            <a:pPr marL="342900" indent="-342900">
              <a:buFont typeface="+mj-lt"/>
              <a:buAutoNum type="arabicPeriod"/>
            </a:pPr>
            <a:r>
              <a:rPr lang="da-DK"/>
              <a:t>Lav en 3x4 matrix med tilfældige værdier mellem 0 og 20</a:t>
            </a:r>
          </a:p>
          <a:p>
            <a:pPr marL="342900" indent="-342900">
              <a:buFont typeface="+mj-lt"/>
              <a:buAutoNum type="arabicPeriod"/>
            </a:pPr>
            <a:r>
              <a:rPr lang="da-DK"/>
              <a:t>Lav en dataframe med dem der sidder ved bordet – navn, alder og herkomst</a:t>
            </a:r>
          </a:p>
          <a:p>
            <a:pPr marL="342900" indent="-342900">
              <a:buFont typeface="+mj-lt"/>
              <a:buAutoNum type="arabicPeriod"/>
            </a:pPr>
            <a:r>
              <a:rPr lang="da-DK"/>
              <a:t>Tilføj en kolonne hvor I gemmer lat-long fra padletten som en vektor i en kolonne.</a:t>
            </a:r>
          </a:p>
          <a:p>
            <a:pPr marL="342900" indent="-342900">
              <a:buFont typeface="+mj-lt"/>
              <a:buAutoNum type="arabicPeriod"/>
            </a:pPr>
            <a:endParaRPr lang="da-DK"/>
          </a:p>
          <a:p>
            <a:pPr marL="342900" indent="-342900">
              <a:buFont typeface="+mj-lt"/>
              <a:buAutoNum type="arabicPeriod"/>
            </a:pPr>
            <a:endParaRPr lang="da-DK"/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D353054B-5B90-2D92-E5AD-A8661C72BF87}"/>
              </a:ext>
            </a:extLst>
          </p:cNvPr>
          <p:cNvSpPr txBox="1"/>
          <p:nvPr/>
        </p:nvSpPr>
        <p:spPr>
          <a:xfrm>
            <a:off x="200364" y="3304437"/>
            <a:ext cx="431045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/>
              <a:t>Øvelse B – data-strukturer:</a:t>
            </a:r>
          </a:p>
          <a:p>
            <a:pPr marL="342900" indent="-342900">
              <a:buFont typeface="+mj-lt"/>
              <a:buAutoNum type="arabicPeriod"/>
            </a:pPr>
            <a:r>
              <a:rPr lang="da-DK"/>
              <a:t>Lav en dataframe på 5 observationer som simulerer alder og kropsvægt</a:t>
            </a:r>
          </a:p>
          <a:p>
            <a:pPr marL="342900" indent="-342900">
              <a:buFont typeface="+mj-lt"/>
              <a:buAutoNum type="arabicPeriod"/>
            </a:pPr>
            <a:r>
              <a:rPr lang="da-DK"/>
              <a:t>Udvid så den består af 50 ved hjælp af runif.</a:t>
            </a:r>
          </a:p>
          <a:p>
            <a:pPr marL="342900" indent="-342900">
              <a:buFont typeface="+mj-lt"/>
              <a:buAutoNum type="arabicPeriod"/>
            </a:pPr>
            <a:r>
              <a:rPr lang="da-DK"/>
              <a:t>Lav et plot af vægt-data for at se om den er normal-fordelt</a:t>
            </a:r>
          </a:p>
          <a:p>
            <a:pPr marL="342900" indent="-342900">
              <a:buFont typeface="+mj-lt"/>
              <a:buAutoNum type="arabicPeriod"/>
            </a:pPr>
            <a:r>
              <a:rPr lang="da-DK"/>
              <a:t>Find et værktøj i R som kan lave normal-fordelte data</a:t>
            </a:r>
          </a:p>
        </p:txBody>
      </p:sp>
    </p:spTree>
    <p:extLst>
      <p:ext uri="{BB962C8B-B14F-4D97-AF65-F5344CB8AC3E}">
        <p14:creationId xmlns:p14="http://schemas.microsoft.com/office/powerpoint/2010/main" val="4003321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illede 19" descr="Et billede, der indeholder tekst, diagram, skitse, linje/række&#10;&#10;Automatisk genereret beskrivelse">
            <a:extLst>
              <a:ext uri="{FF2B5EF4-FFF2-40B4-BE49-F238E27FC236}">
                <a16:creationId xmlns:a16="http://schemas.microsoft.com/office/drawing/2014/main" id="{BA9DCE37-BC06-2324-A9FA-E69647A3D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7590" y="1286348"/>
            <a:ext cx="6374739" cy="4733124"/>
          </a:xfrm>
          <a:prstGeom prst="rect">
            <a:avLst/>
          </a:prstGeom>
        </p:spPr>
      </p:pic>
      <p:sp>
        <p:nvSpPr>
          <p:cNvPr id="2" name="Tekstfelt 1">
            <a:extLst>
              <a:ext uri="{FF2B5EF4-FFF2-40B4-BE49-F238E27FC236}">
                <a16:creationId xmlns:a16="http://schemas.microsoft.com/office/drawing/2014/main" id="{D7649916-CD27-7A9B-1CA2-7A64C9D74AFC}"/>
              </a:ext>
            </a:extLst>
          </p:cNvPr>
          <p:cNvSpPr txBox="1"/>
          <p:nvPr/>
        </p:nvSpPr>
        <p:spPr>
          <a:xfrm>
            <a:off x="608571" y="497706"/>
            <a:ext cx="45696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800"/>
              <a:t>Loading and saving data (s.57)</a:t>
            </a:r>
            <a:endParaRPr lang="da-DK"/>
          </a:p>
        </p:txBody>
      </p:sp>
      <p:sp>
        <p:nvSpPr>
          <p:cNvPr id="22" name="Tekstfelt 21">
            <a:extLst>
              <a:ext uri="{FF2B5EF4-FFF2-40B4-BE49-F238E27FC236}">
                <a16:creationId xmlns:a16="http://schemas.microsoft.com/office/drawing/2014/main" id="{FCD7977D-4D87-980D-CB6C-CF417BC8201F}"/>
              </a:ext>
            </a:extLst>
          </p:cNvPr>
          <p:cNvSpPr txBox="1"/>
          <p:nvPr/>
        </p:nvSpPr>
        <p:spPr>
          <a:xfrm>
            <a:off x="608571" y="1286348"/>
            <a:ext cx="37555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i="1">
                <a:effectLst/>
                <a:latin typeface="Times" pitchFamily="2" charset="0"/>
              </a:rPr>
              <a:t>Most data-science applications can open plain-text files and export data as plain-text files. This makes plain-text files a sort of lingua franca for data science.</a:t>
            </a: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640F3641-82F8-FDF6-259B-B13CACCECE69}"/>
              </a:ext>
            </a:extLst>
          </p:cNvPr>
          <p:cNvSpPr txBox="1"/>
          <p:nvPr/>
        </p:nvSpPr>
        <p:spPr>
          <a:xfrm>
            <a:off x="7425007" y="5103674"/>
            <a:ext cx="55763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/>
              <a:t>øvelse 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/>
              <a:t>indlæs filen test3.csv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/>
              <a:t>Hvor mange na’er? Og hvilke indices?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/>
              <a:t>Hvad er gennemsnittet og standardafvigelsen?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/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F800B380-DA7E-543D-03F9-BD02E53506E9}"/>
              </a:ext>
            </a:extLst>
          </p:cNvPr>
          <p:cNvSpPr txBox="1"/>
          <p:nvPr/>
        </p:nvSpPr>
        <p:spPr>
          <a:xfrm>
            <a:off x="687273" y="3013501"/>
            <a:ext cx="27278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>
                <a:effectLst/>
                <a:latin typeface="Helvetica" pitchFamily="2" charset="0"/>
              </a:rPr>
              <a:t>Missing Information</a:t>
            </a:r>
          </a:p>
        </p:txBody>
      </p:sp>
      <p:pic>
        <p:nvPicPr>
          <p:cNvPr id="6" name="Billede 5" descr="Et billede, der indeholder tekst, Font/skrifttype, hvid, håndskrift&#10;&#10;Automatisk genereret beskrivelse">
            <a:extLst>
              <a:ext uri="{FF2B5EF4-FFF2-40B4-BE49-F238E27FC236}">
                <a16:creationId xmlns:a16="http://schemas.microsoft.com/office/drawing/2014/main" id="{0349EF80-8003-5110-B5A1-0C8BC5EEB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8895" y="2941144"/>
            <a:ext cx="4363941" cy="824300"/>
          </a:xfrm>
          <a:prstGeom prst="rect">
            <a:avLst/>
          </a:prstGeom>
        </p:spPr>
      </p:pic>
      <p:pic>
        <p:nvPicPr>
          <p:cNvPr id="7" name="Billede 6" descr="Et billede, der indeholder tekst, Font/skrifttype, skærmbillede, linje/række&#10;&#10;Automatisk genereret beskrivelse">
            <a:extLst>
              <a:ext uri="{FF2B5EF4-FFF2-40B4-BE49-F238E27FC236}">
                <a16:creationId xmlns:a16="http://schemas.microsoft.com/office/drawing/2014/main" id="{3FBF1055-170E-63D6-BBD9-43533EB03D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898" y="3933746"/>
            <a:ext cx="2672828" cy="1658997"/>
          </a:xfrm>
          <a:prstGeom prst="rect">
            <a:avLst/>
          </a:prstGeom>
        </p:spPr>
      </p:pic>
      <p:pic>
        <p:nvPicPr>
          <p:cNvPr id="9" name="Billede 8" descr="Et billede, der indeholder tekst, Font/skrifttype, hvid, Grafik&#10;&#10;Automatisk genereret beskrivelse">
            <a:extLst>
              <a:ext uri="{FF2B5EF4-FFF2-40B4-BE49-F238E27FC236}">
                <a16:creationId xmlns:a16="http://schemas.microsoft.com/office/drawing/2014/main" id="{06945054-6475-F090-002F-F51D296037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8818" y="5761045"/>
            <a:ext cx="20193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122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kstfelt 9">
            <a:extLst>
              <a:ext uri="{FF2B5EF4-FFF2-40B4-BE49-F238E27FC236}">
                <a16:creationId xmlns:a16="http://schemas.microsoft.com/office/drawing/2014/main" id="{A1D49D26-89EA-F693-941C-2A50BF95EE40}"/>
              </a:ext>
            </a:extLst>
          </p:cNvPr>
          <p:cNvSpPr txBox="1"/>
          <p:nvPr/>
        </p:nvSpPr>
        <p:spPr>
          <a:xfrm>
            <a:off x="608570" y="575275"/>
            <a:ext cx="108273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3600">
                <a:effectLst/>
                <a:latin typeface="Helvetica" pitchFamily="2" charset="0"/>
              </a:rPr>
              <a:t>Chap 4: How to </a:t>
            </a:r>
            <a:r>
              <a:rPr lang="da-DK" sz="3600" b="1">
                <a:effectLst/>
                <a:latin typeface="Helvetica" pitchFamily="2" charset="0"/>
              </a:rPr>
              <a:t>extract</a:t>
            </a:r>
            <a:r>
              <a:rPr lang="da-DK" sz="3600">
                <a:effectLst/>
                <a:latin typeface="Helvetica" pitchFamily="2" charset="0"/>
              </a:rPr>
              <a:t> data</a:t>
            </a:r>
          </a:p>
        </p:txBody>
      </p:sp>
      <p:sp>
        <p:nvSpPr>
          <p:cNvPr id="2" name="Tekstfelt 1">
            <a:extLst>
              <a:ext uri="{FF2B5EF4-FFF2-40B4-BE49-F238E27FC236}">
                <a16:creationId xmlns:a16="http://schemas.microsoft.com/office/drawing/2014/main" id="{D7649916-CD27-7A9B-1CA2-7A64C9D74AFC}"/>
              </a:ext>
            </a:extLst>
          </p:cNvPr>
          <p:cNvSpPr txBox="1"/>
          <p:nvPr/>
        </p:nvSpPr>
        <p:spPr>
          <a:xfrm>
            <a:off x="608570" y="1278452"/>
            <a:ext cx="30252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>
                <a:effectLst/>
                <a:latin typeface="Times" pitchFamily="2" charset="0"/>
              </a:rPr>
              <a:t>R Notation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513C6FC4-B8FE-2FB0-A5FE-001858EEF880}"/>
              </a:ext>
            </a:extLst>
          </p:cNvPr>
          <p:cNvSpPr txBox="1"/>
          <p:nvPr/>
        </p:nvSpPr>
        <p:spPr>
          <a:xfrm>
            <a:off x="608570" y="1858518"/>
            <a:ext cx="3657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i="1">
                <a:effectLst/>
                <a:latin typeface="Times" pitchFamily="2" charset="0"/>
              </a:rPr>
              <a:t>R has a notation system that lets you </a:t>
            </a:r>
            <a:r>
              <a:rPr lang="da-DK" b="1" i="1">
                <a:effectLst/>
                <a:latin typeface="Times" pitchFamily="2" charset="0"/>
              </a:rPr>
              <a:t>extract values </a:t>
            </a:r>
            <a:r>
              <a:rPr lang="da-DK" i="1">
                <a:effectLst/>
                <a:latin typeface="Times" pitchFamily="2" charset="0"/>
              </a:rPr>
              <a:t>from R objects using ...</a:t>
            </a:r>
          </a:p>
        </p:txBody>
      </p:sp>
      <p:pic>
        <p:nvPicPr>
          <p:cNvPr id="15" name="Billede 14" descr="Et billede, der indeholder Font/skrifttype, tekst, håndskrift, hvid&#10;&#10;Automatisk genereret beskrivelse">
            <a:extLst>
              <a:ext uri="{FF2B5EF4-FFF2-40B4-BE49-F238E27FC236}">
                <a16:creationId xmlns:a16="http://schemas.microsoft.com/office/drawing/2014/main" id="{E9FDC148-0F3A-484A-1F24-FC7472781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429" y="2643405"/>
            <a:ext cx="2309091" cy="601602"/>
          </a:xfrm>
          <a:prstGeom prst="rect">
            <a:avLst/>
          </a:prstGeom>
        </p:spPr>
      </p:pic>
      <p:pic>
        <p:nvPicPr>
          <p:cNvPr id="17" name="Billede 16" descr="Et billede, der indeholder Font/skrifttype, tekst, nummer/tal, skærmbillede&#10;&#10;Automatisk genereret beskrivelse">
            <a:extLst>
              <a:ext uri="{FF2B5EF4-FFF2-40B4-BE49-F238E27FC236}">
                <a16:creationId xmlns:a16="http://schemas.microsoft.com/office/drawing/2014/main" id="{40F0BC04-5647-0663-A1C8-8704F7B40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221" y="3376036"/>
            <a:ext cx="1502641" cy="883907"/>
          </a:xfrm>
          <a:prstGeom prst="rect">
            <a:avLst/>
          </a:prstGeom>
        </p:spPr>
      </p:pic>
      <p:pic>
        <p:nvPicPr>
          <p:cNvPr id="19" name="Billede 18" descr="Et billede, der indeholder Font/skrifttype, tekst, hvid, Grafik&#10;&#10;Automatisk genereret beskrivelse">
            <a:extLst>
              <a:ext uri="{FF2B5EF4-FFF2-40B4-BE49-F238E27FC236}">
                <a16:creationId xmlns:a16="http://schemas.microsoft.com/office/drawing/2014/main" id="{C0291720-0AF0-5043-D69B-73F7CB82C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7429" y="4512490"/>
            <a:ext cx="1502641" cy="423158"/>
          </a:xfrm>
          <a:prstGeom prst="rect">
            <a:avLst/>
          </a:prstGeom>
        </p:spPr>
      </p:pic>
      <p:sp>
        <p:nvSpPr>
          <p:cNvPr id="20" name="Tekstfelt 19">
            <a:extLst>
              <a:ext uri="{FF2B5EF4-FFF2-40B4-BE49-F238E27FC236}">
                <a16:creationId xmlns:a16="http://schemas.microsoft.com/office/drawing/2014/main" id="{25BDDD20-FDB1-4F8A-7CAB-99F97305AE9F}"/>
              </a:ext>
            </a:extLst>
          </p:cNvPr>
          <p:cNvSpPr txBox="1"/>
          <p:nvPr/>
        </p:nvSpPr>
        <p:spPr>
          <a:xfrm>
            <a:off x="2606221" y="4280781"/>
            <a:ext cx="13588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200"/>
              <a:t>Det sidste element</a:t>
            </a:r>
          </a:p>
        </p:txBody>
      </p:sp>
      <p:pic>
        <p:nvPicPr>
          <p:cNvPr id="4" name="Billede 3" descr="Et billede, der indeholder tekst, skærmbillede, Font/skrifttype, nummer/tal&#10;&#10;Automatisk genereret beskrivelse">
            <a:extLst>
              <a:ext uri="{FF2B5EF4-FFF2-40B4-BE49-F238E27FC236}">
                <a16:creationId xmlns:a16="http://schemas.microsoft.com/office/drawing/2014/main" id="{B41A4577-5057-2116-6E65-C50D50B051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7065" y="1540062"/>
            <a:ext cx="2529980" cy="1550988"/>
          </a:xfrm>
          <a:prstGeom prst="rect">
            <a:avLst/>
          </a:prstGeom>
        </p:spPr>
      </p:pic>
      <p:pic>
        <p:nvPicPr>
          <p:cNvPr id="7" name="Billede 6" descr="Et billede, der indeholder Font/skrifttype, tekst, hvid, Grafik&#10;&#10;Automatisk genereret beskrivelse">
            <a:extLst>
              <a:ext uri="{FF2B5EF4-FFF2-40B4-BE49-F238E27FC236}">
                <a16:creationId xmlns:a16="http://schemas.microsoft.com/office/drawing/2014/main" id="{F5251A70-B3E8-2901-2493-E6A9EA000A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6842" y="3108369"/>
            <a:ext cx="1690729" cy="463743"/>
          </a:xfrm>
          <a:prstGeom prst="rect">
            <a:avLst/>
          </a:prstGeom>
        </p:spPr>
      </p:pic>
      <p:pic>
        <p:nvPicPr>
          <p:cNvPr id="11" name="Billede 10" descr="Et billede, der indeholder tekst, Font/skrifttype, hvid, skærmbillede&#10;&#10;Automatisk genereret beskrivelse">
            <a:extLst>
              <a:ext uri="{FF2B5EF4-FFF2-40B4-BE49-F238E27FC236}">
                <a16:creationId xmlns:a16="http://schemas.microsoft.com/office/drawing/2014/main" id="{7EB39AF4-46EC-DC3D-868C-1BF31D2739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6842" y="3913492"/>
            <a:ext cx="1940223" cy="671980"/>
          </a:xfrm>
          <a:prstGeom prst="rect">
            <a:avLst/>
          </a:prstGeom>
        </p:spPr>
      </p:pic>
      <p:pic>
        <p:nvPicPr>
          <p:cNvPr id="18" name="Billede 17">
            <a:extLst>
              <a:ext uri="{FF2B5EF4-FFF2-40B4-BE49-F238E27FC236}">
                <a16:creationId xmlns:a16="http://schemas.microsoft.com/office/drawing/2014/main" id="{9FCE145D-31A9-8F08-758D-E36F95E18D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6885" y="4825090"/>
            <a:ext cx="2529980" cy="242729"/>
          </a:xfrm>
          <a:prstGeom prst="rect">
            <a:avLst/>
          </a:prstGeom>
        </p:spPr>
      </p:pic>
      <p:sp>
        <p:nvSpPr>
          <p:cNvPr id="21" name="Tekstfelt 20">
            <a:extLst>
              <a:ext uri="{FF2B5EF4-FFF2-40B4-BE49-F238E27FC236}">
                <a16:creationId xmlns:a16="http://schemas.microsoft.com/office/drawing/2014/main" id="{D28F6547-7223-5DE5-F177-58642AEB6CFD}"/>
              </a:ext>
            </a:extLst>
          </p:cNvPr>
          <p:cNvSpPr txBox="1"/>
          <p:nvPr/>
        </p:nvSpPr>
        <p:spPr>
          <a:xfrm>
            <a:off x="4746885" y="4615451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søjlen</a:t>
            </a:r>
          </a:p>
        </p:txBody>
      </p:sp>
      <p:sp>
        <p:nvSpPr>
          <p:cNvPr id="23" name="Tekstfelt 22">
            <a:extLst>
              <a:ext uri="{FF2B5EF4-FFF2-40B4-BE49-F238E27FC236}">
                <a16:creationId xmlns:a16="http://schemas.microsoft.com/office/drawing/2014/main" id="{108BF7AA-0D85-8946-5C5E-CB6E7F705BF9}"/>
              </a:ext>
            </a:extLst>
          </p:cNvPr>
          <p:cNvSpPr txBox="1"/>
          <p:nvPr/>
        </p:nvSpPr>
        <p:spPr>
          <a:xfrm>
            <a:off x="4766842" y="3602946"/>
            <a:ext cx="779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Rækken</a:t>
            </a:r>
          </a:p>
        </p:txBody>
      </p:sp>
      <p:sp>
        <p:nvSpPr>
          <p:cNvPr id="24" name="Tekstfelt 23">
            <a:extLst>
              <a:ext uri="{FF2B5EF4-FFF2-40B4-BE49-F238E27FC236}">
                <a16:creationId xmlns:a16="http://schemas.microsoft.com/office/drawing/2014/main" id="{F31FC1DC-9B83-F739-DA01-AE2769D7CBD7}"/>
              </a:ext>
            </a:extLst>
          </p:cNvPr>
          <p:cNvSpPr txBox="1"/>
          <p:nvPr/>
        </p:nvSpPr>
        <p:spPr>
          <a:xfrm>
            <a:off x="4747982" y="2889018"/>
            <a:ext cx="949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Elementet</a:t>
            </a:r>
          </a:p>
        </p:txBody>
      </p:sp>
      <p:pic>
        <p:nvPicPr>
          <p:cNvPr id="26" name="Billede 25" descr="Et billede, der indeholder tekst, skærmbillede, Font/skrifttype&#10;&#10;Automatisk genereret beskrivelse">
            <a:extLst>
              <a:ext uri="{FF2B5EF4-FFF2-40B4-BE49-F238E27FC236}">
                <a16:creationId xmlns:a16="http://schemas.microsoft.com/office/drawing/2014/main" id="{E680F9A0-CD2B-A8E0-4B44-284D07B50F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1784" y="2598799"/>
            <a:ext cx="2318833" cy="2675576"/>
          </a:xfrm>
          <a:prstGeom prst="rect">
            <a:avLst/>
          </a:prstGeom>
        </p:spPr>
      </p:pic>
      <p:sp>
        <p:nvSpPr>
          <p:cNvPr id="31" name="Tekstfelt 30">
            <a:extLst>
              <a:ext uri="{FF2B5EF4-FFF2-40B4-BE49-F238E27FC236}">
                <a16:creationId xmlns:a16="http://schemas.microsoft.com/office/drawing/2014/main" id="{4A22A420-DBF1-5DE4-86F9-3F14840AE14C}"/>
              </a:ext>
            </a:extLst>
          </p:cNvPr>
          <p:cNvSpPr txBox="1"/>
          <p:nvPr/>
        </p:nvSpPr>
        <p:spPr>
          <a:xfrm>
            <a:off x="4737379" y="5021602"/>
            <a:ext cx="16558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Udvalgte elementer</a:t>
            </a: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73422F23-7C77-842A-478F-91E6283BD944}"/>
              </a:ext>
            </a:extLst>
          </p:cNvPr>
          <p:cNvSpPr txBox="1"/>
          <p:nvPr/>
        </p:nvSpPr>
        <p:spPr>
          <a:xfrm>
            <a:off x="6707065" y="734655"/>
            <a:ext cx="39057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/>
              <a:t>Children.csv fra </a:t>
            </a:r>
          </a:p>
          <a:p>
            <a:r>
              <a:rPr lang="da-DK"/>
              <a:t>https://github.com/cphstud/RIntroData</a:t>
            </a:r>
          </a:p>
        </p:txBody>
      </p:sp>
      <p:pic>
        <p:nvPicPr>
          <p:cNvPr id="8" name="Billede 7" descr="Et billede, der indeholder tekst, Font/skrifttype, hvid, linje/række&#10;&#10;Automatisk genereret beskrivelse">
            <a:extLst>
              <a:ext uri="{FF2B5EF4-FFF2-40B4-BE49-F238E27FC236}">
                <a16:creationId xmlns:a16="http://schemas.microsoft.com/office/drawing/2014/main" id="{BF953686-C646-AD65-DB42-FBB42441E5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5005" y="5324615"/>
            <a:ext cx="2347994" cy="109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214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kstfelt 9">
            <a:extLst>
              <a:ext uri="{FF2B5EF4-FFF2-40B4-BE49-F238E27FC236}">
                <a16:creationId xmlns:a16="http://schemas.microsoft.com/office/drawing/2014/main" id="{A1D49D26-89EA-F693-941C-2A50BF95EE40}"/>
              </a:ext>
            </a:extLst>
          </p:cNvPr>
          <p:cNvSpPr txBox="1"/>
          <p:nvPr/>
        </p:nvSpPr>
        <p:spPr>
          <a:xfrm>
            <a:off x="608570" y="575275"/>
            <a:ext cx="108273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3600">
                <a:effectLst/>
                <a:latin typeface="Helvetica" pitchFamily="2" charset="0"/>
              </a:rPr>
              <a:t>Chap 4: How to extract data</a:t>
            </a:r>
          </a:p>
        </p:txBody>
      </p:sp>
      <p:sp>
        <p:nvSpPr>
          <p:cNvPr id="2" name="Tekstfelt 1">
            <a:extLst>
              <a:ext uri="{FF2B5EF4-FFF2-40B4-BE49-F238E27FC236}">
                <a16:creationId xmlns:a16="http://schemas.microsoft.com/office/drawing/2014/main" id="{D7649916-CD27-7A9B-1CA2-7A64C9D74AFC}"/>
              </a:ext>
            </a:extLst>
          </p:cNvPr>
          <p:cNvSpPr txBox="1"/>
          <p:nvPr/>
        </p:nvSpPr>
        <p:spPr>
          <a:xfrm>
            <a:off x="608570" y="1278452"/>
            <a:ext cx="30252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>
                <a:effectLst/>
                <a:latin typeface="Times" pitchFamily="2" charset="0"/>
              </a:rPr>
              <a:t>R Notation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513C6FC4-B8FE-2FB0-A5FE-001858EEF880}"/>
              </a:ext>
            </a:extLst>
          </p:cNvPr>
          <p:cNvSpPr txBox="1"/>
          <p:nvPr/>
        </p:nvSpPr>
        <p:spPr>
          <a:xfrm>
            <a:off x="608570" y="1858518"/>
            <a:ext cx="3657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i="1">
                <a:effectLst/>
                <a:latin typeface="Times" pitchFamily="2" charset="0"/>
              </a:rPr>
              <a:t>R has a notation system that lets you </a:t>
            </a:r>
            <a:r>
              <a:rPr lang="da-DK" b="1" i="1">
                <a:effectLst/>
                <a:latin typeface="Times" pitchFamily="2" charset="0"/>
              </a:rPr>
              <a:t>extract values </a:t>
            </a:r>
            <a:r>
              <a:rPr lang="da-DK" i="1">
                <a:effectLst/>
                <a:latin typeface="Times" pitchFamily="2" charset="0"/>
              </a:rPr>
              <a:t>from R objects using ...</a:t>
            </a:r>
          </a:p>
        </p:txBody>
      </p:sp>
      <p:pic>
        <p:nvPicPr>
          <p:cNvPr id="26" name="Billede 25" descr="Et billede, der indeholder tekst, skærmbillede, Font/skrifttype&#10;&#10;Automatisk genereret beskrivelse">
            <a:extLst>
              <a:ext uri="{FF2B5EF4-FFF2-40B4-BE49-F238E27FC236}">
                <a16:creationId xmlns:a16="http://schemas.microsoft.com/office/drawing/2014/main" id="{E680F9A0-CD2B-A8E0-4B44-284D07B50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84" y="2598799"/>
            <a:ext cx="2318833" cy="2675576"/>
          </a:xfrm>
          <a:prstGeom prst="rect">
            <a:avLst/>
          </a:prstGeom>
        </p:spPr>
      </p:pic>
      <p:sp>
        <p:nvSpPr>
          <p:cNvPr id="8" name="Tekstfelt 7">
            <a:extLst>
              <a:ext uri="{FF2B5EF4-FFF2-40B4-BE49-F238E27FC236}">
                <a16:creationId xmlns:a16="http://schemas.microsoft.com/office/drawing/2014/main" id="{59476087-CF0A-F521-3FBA-B690B037F8E6}"/>
              </a:ext>
            </a:extLst>
          </p:cNvPr>
          <p:cNvSpPr txBox="1"/>
          <p:nvPr/>
        </p:nvSpPr>
        <p:spPr>
          <a:xfrm>
            <a:off x="5328286" y="1905262"/>
            <a:ext cx="495565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/>
              <a:t>Sample-øvelse</a:t>
            </a:r>
          </a:p>
          <a:p>
            <a:pPr marL="342900" indent="-342900">
              <a:buAutoNum type="arabicParenR"/>
            </a:pPr>
            <a:r>
              <a:rPr lang="da-DK"/>
              <a:t>Lav en dataframe med 20 rækker og 3 kolonner</a:t>
            </a:r>
          </a:p>
          <a:p>
            <a:pPr marL="342900" indent="-342900">
              <a:buAutoNum type="arabicParenR"/>
            </a:pPr>
            <a:r>
              <a:rPr lang="da-DK"/>
              <a:t>Navngiv kolonnerne: A,B,C</a:t>
            </a:r>
          </a:p>
          <a:p>
            <a:pPr marL="342900" indent="-342900">
              <a:buAutoNum type="arabicParenR"/>
            </a:pPr>
            <a:r>
              <a:rPr lang="da-DK"/>
              <a:t>Lav et subset med række 3,5 og 9</a:t>
            </a:r>
          </a:p>
          <a:p>
            <a:pPr marL="342900" indent="-342900">
              <a:buAutoNum type="arabicParenR"/>
            </a:pPr>
            <a:r>
              <a:rPr lang="da-DK"/>
              <a:t>Lav et subset uden de første 3 rækker</a:t>
            </a:r>
          </a:p>
          <a:p>
            <a:pPr marL="342900" indent="-342900">
              <a:buAutoNum type="arabicParenR"/>
            </a:pPr>
            <a:r>
              <a:rPr lang="da-DK"/>
              <a:t>Lav et sample på 5 rækker</a:t>
            </a:r>
          </a:p>
          <a:p>
            <a:pPr marL="342900" indent="-342900">
              <a:buAutoNum type="arabicParenR"/>
            </a:pPr>
            <a:r>
              <a:rPr lang="da-DK"/>
              <a:t>Samme som 3 men kun A og B</a:t>
            </a:r>
          </a:p>
        </p:txBody>
      </p:sp>
    </p:spTree>
    <p:extLst>
      <p:ext uri="{BB962C8B-B14F-4D97-AF65-F5344CB8AC3E}">
        <p14:creationId xmlns:p14="http://schemas.microsoft.com/office/powerpoint/2010/main" val="3490672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kstfelt 9">
            <a:extLst>
              <a:ext uri="{FF2B5EF4-FFF2-40B4-BE49-F238E27FC236}">
                <a16:creationId xmlns:a16="http://schemas.microsoft.com/office/drawing/2014/main" id="{A1D49D26-89EA-F693-941C-2A50BF95EE40}"/>
              </a:ext>
            </a:extLst>
          </p:cNvPr>
          <p:cNvSpPr txBox="1"/>
          <p:nvPr/>
        </p:nvSpPr>
        <p:spPr>
          <a:xfrm>
            <a:off x="608570" y="575275"/>
            <a:ext cx="108273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3600">
                <a:effectLst/>
                <a:latin typeface="Helvetica" pitchFamily="2" charset="0"/>
              </a:rPr>
              <a:t>Chap 4: How to </a:t>
            </a:r>
            <a:r>
              <a:rPr lang="da-DK" sz="3600" b="1">
                <a:effectLst/>
                <a:latin typeface="Helvetica" pitchFamily="2" charset="0"/>
              </a:rPr>
              <a:t>extract</a:t>
            </a:r>
            <a:r>
              <a:rPr lang="da-DK" sz="3600">
                <a:effectLst/>
                <a:latin typeface="Helvetica" pitchFamily="2" charset="0"/>
              </a:rPr>
              <a:t> data - Øvelser</a:t>
            </a:r>
          </a:p>
        </p:txBody>
      </p:sp>
      <p:sp>
        <p:nvSpPr>
          <p:cNvPr id="32" name="Tekstfelt 31">
            <a:extLst>
              <a:ext uri="{FF2B5EF4-FFF2-40B4-BE49-F238E27FC236}">
                <a16:creationId xmlns:a16="http://schemas.microsoft.com/office/drawing/2014/main" id="{0CCFD2E9-D553-CE57-053B-F62544417748}"/>
              </a:ext>
            </a:extLst>
          </p:cNvPr>
          <p:cNvSpPr txBox="1"/>
          <p:nvPr/>
        </p:nvSpPr>
        <p:spPr>
          <a:xfrm>
            <a:off x="608570" y="1397675"/>
            <a:ext cx="50433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/>
              <a:t>Øvelser</a:t>
            </a:r>
          </a:p>
          <a:p>
            <a:pPr marL="342900" indent="-342900">
              <a:buFont typeface="+mj-lt"/>
              <a:buAutoNum type="arabicPeriod"/>
            </a:pPr>
            <a:r>
              <a:rPr lang="da-DK" sz="1400"/>
              <a:t>indlæs children.csv fra https://github.com/cphstud/RIntroData</a:t>
            </a:r>
          </a:p>
          <a:p>
            <a:pPr marL="342900" indent="-342900">
              <a:buFont typeface="+mj-lt"/>
              <a:buAutoNum type="arabicPeriod"/>
            </a:pPr>
            <a:r>
              <a:rPr lang="da-DK" sz="1400"/>
              <a:t>Hvor gammelt er element 340?</a:t>
            </a:r>
          </a:p>
          <a:p>
            <a:pPr marL="342900" indent="-342900">
              <a:buFont typeface="+mj-lt"/>
              <a:buAutoNum type="arabicPeriod"/>
            </a:pPr>
            <a:r>
              <a:rPr lang="da-DK" sz="1400"/>
              <a:t>Lav en dataframe med rækkerne 200 til 300</a:t>
            </a:r>
          </a:p>
          <a:p>
            <a:pPr marL="342900" indent="-342900">
              <a:buFont typeface="+mj-lt"/>
              <a:buAutoNum type="arabicPeriod"/>
            </a:pPr>
            <a:r>
              <a:rPr lang="da-DK" sz="1400"/>
              <a:t>Lav en dataframe hvor du fravælger række 2,9,23 og 45 men beholder alle kolonner</a:t>
            </a:r>
          </a:p>
          <a:p>
            <a:pPr marL="342900" indent="-342900">
              <a:buFont typeface="+mj-lt"/>
              <a:buAutoNum type="arabicPeriod"/>
            </a:pPr>
            <a:endParaRPr lang="da-DK" sz="1400"/>
          </a:p>
          <a:p>
            <a:endParaRPr lang="da-DK" sz="1400"/>
          </a:p>
        </p:txBody>
      </p:sp>
    </p:spTree>
    <p:extLst>
      <p:ext uri="{BB962C8B-B14F-4D97-AF65-F5344CB8AC3E}">
        <p14:creationId xmlns:p14="http://schemas.microsoft.com/office/powerpoint/2010/main" val="1617268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kstfelt 9">
            <a:extLst>
              <a:ext uri="{FF2B5EF4-FFF2-40B4-BE49-F238E27FC236}">
                <a16:creationId xmlns:a16="http://schemas.microsoft.com/office/drawing/2014/main" id="{A1D49D26-89EA-F693-941C-2A50BF95EE40}"/>
              </a:ext>
            </a:extLst>
          </p:cNvPr>
          <p:cNvSpPr txBox="1"/>
          <p:nvPr/>
        </p:nvSpPr>
        <p:spPr>
          <a:xfrm>
            <a:off x="608570" y="575275"/>
            <a:ext cx="108273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3600">
                <a:effectLst/>
                <a:latin typeface="Helvetica" pitchFamily="2" charset="0"/>
              </a:rPr>
              <a:t>Chap 4: How to </a:t>
            </a:r>
            <a:r>
              <a:rPr lang="da-DK" sz="3600" b="1">
                <a:effectLst/>
                <a:latin typeface="Helvetica" pitchFamily="2" charset="0"/>
              </a:rPr>
              <a:t>summarise</a:t>
            </a:r>
            <a:r>
              <a:rPr lang="da-DK" sz="3600">
                <a:effectLst/>
                <a:latin typeface="Helvetica" pitchFamily="2" charset="0"/>
              </a:rPr>
              <a:t> data</a:t>
            </a:r>
          </a:p>
        </p:txBody>
      </p:sp>
      <p:pic>
        <p:nvPicPr>
          <p:cNvPr id="3" name="Billede 2" descr="Et billede, der indeholder tekst, skærmbillede, Font/skrifttype, nummer/tal&#10;&#10;Automatisk genereret beskrivelse">
            <a:extLst>
              <a:ext uri="{FF2B5EF4-FFF2-40B4-BE49-F238E27FC236}">
                <a16:creationId xmlns:a16="http://schemas.microsoft.com/office/drawing/2014/main" id="{E9BEB728-F37D-FD3C-BE35-66C7EFE6A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312" y="1484416"/>
            <a:ext cx="3154877" cy="1183079"/>
          </a:xfrm>
          <a:prstGeom prst="rect">
            <a:avLst/>
          </a:prstGeom>
        </p:spPr>
      </p:pic>
      <p:pic>
        <p:nvPicPr>
          <p:cNvPr id="6" name="Billede 5" descr="Et billede, der indeholder tekst, Font/skrifttype, skærmbillede, hvid&#10;&#10;Automatisk genereret beskrivelse">
            <a:extLst>
              <a:ext uri="{FF2B5EF4-FFF2-40B4-BE49-F238E27FC236}">
                <a16:creationId xmlns:a16="http://schemas.microsoft.com/office/drawing/2014/main" id="{0211050E-8A02-B71C-81E6-CFBCF98FB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12" y="3341914"/>
            <a:ext cx="375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230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kstfelt 9">
            <a:extLst>
              <a:ext uri="{FF2B5EF4-FFF2-40B4-BE49-F238E27FC236}">
                <a16:creationId xmlns:a16="http://schemas.microsoft.com/office/drawing/2014/main" id="{A1D49D26-89EA-F693-941C-2A50BF95EE40}"/>
              </a:ext>
            </a:extLst>
          </p:cNvPr>
          <p:cNvSpPr txBox="1"/>
          <p:nvPr/>
        </p:nvSpPr>
        <p:spPr>
          <a:xfrm>
            <a:off x="608570" y="575275"/>
            <a:ext cx="108273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3600">
                <a:effectLst/>
                <a:latin typeface="Helvetica" pitchFamily="2" charset="0"/>
              </a:rPr>
              <a:t>Chap 4 – How to extract data – two notations</a:t>
            </a:r>
          </a:p>
        </p:txBody>
      </p:sp>
      <p:sp>
        <p:nvSpPr>
          <p:cNvPr id="2" name="Tekstfelt 1">
            <a:extLst>
              <a:ext uri="{FF2B5EF4-FFF2-40B4-BE49-F238E27FC236}">
                <a16:creationId xmlns:a16="http://schemas.microsoft.com/office/drawing/2014/main" id="{D7649916-CD27-7A9B-1CA2-7A64C9D74AFC}"/>
              </a:ext>
            </a:extLst>
          </p:cNvPr>
          <p:cNvSpPr txBox="1"/>
          <p:nvPr/>
        </p:nvSpPr>
        <p:spPr>
          <a:xfrm>
            <a:off x="608570" y="1355671"/>
            <a:ext cx="30252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>
                <a:effectLst/>
                <a:latin typeface="Times" pitchFamily="2" charset="0"/>
              </a:rPr>
              <a:t>R Notation</a:t>
            </a:r>
          </a:p>
        </p:txBody>
      </p:sp>
      <p:pic>
        <p:nvPicPr>
          <p:cNvPr id="26" name="Billede 25" descr="Et billede, der indeholder tekst, skærmbillede, Font/skrifttype&#10;&#10;Automatisk genereret beskrivelse">
            <a:extLst>
              <a:ext uri="{FF2B5EF4-FFF2-40B4-BE49-F238E27FC236}">
                <a16:creationId xmlns:a16="http://schemas.microsoft.com/office/drawing/2014/main" id="{E680F9A0-CD2B-A8E0-4B44-284D07B50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24" y="1864047"/>
            <a:ext cx="2318833" cy="2675576"/>
          </a:xfrm>
          <a:prstGeom prst="rect">
            <a:avLst/>
          </a:prstGeom>
        </p:spPr>
      </p:pic>
      <p:sp>
        <p:nvSpPr>
          <p:cNvPr id="3" name="Tekstfelt 2">
            <a:extLst>
              <a:ext uri="{FF2B5EF4-FFF2-40B4-BE49-F238E27FC236}">
                <a16:creationId xmlns:a16="http://schemas.microsoft.com/office/drawing/2014/main" id="{AB2C67AF-B960-3D57-F109-1928F64B5B44}"/>
              </a:ext>
            </a:extLst>
          </p:cNvPr>
          <p:cNvSpPr txBox="1"/>
          <p:nvPr/>
        </p:nvSpPr>
        <p:spPr>
          <a:xfrm>
            <a:off x="3120243" y="2256951"/>
            <a:ext cx="36575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i="1">
                <a:effectLst/>
                <a:latin typeface="Times" pitchFamily="2" charset="0"/>
              </a:rPr>
              <a:t>Two types of object in R - data frames and lists - obey an optional second system of notation.</a:t>
            </a:r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0ABE1CF9-5D0C-A349-1B5C-4B96D51B278B}"/>
              </a:ext>
            </a:extLst>
          </p:cNvPr>
          <p:cNvSpPr txBox="1"/>
          <p:nvPr/>
        </p:nvSpPr>
        <p:spPr>
          <a:xfrm>
            <a:off x="3120243" y="1878891"/>
            <a:ext cx="4722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>
                <a:effectLst/>
                <a:latin typeface="Helvetica" pitchFamily="2" charset="0"/>
              </a:rPr>
              <a:t>Dollar Signs and Double Brackets</a:t>
            </a:r>
          </a:p>
          <a:p>
            <a:endParaRPr lang="da-DK"/>
          </a:p>
        </p:txBody>
      </p:sp>
      <p:sp>
        <p:nvSpPr>
          <p:cNvPr id="13" name="Tekstfelt 12">
            <a:extLst>
              <a:ext uri="{FF2B5EF4-FFF2-40B4-BE49-F238E27FC236}">
                <a16:creationId xmlns:a16="http://schemas.microsoft.com/office/drawing/2014/main" id="{7DF5382D-8142-C41B-6E13-2202E91C7CDF}"/>
              </a:ext>
            </a:extLst>
          </p:cNvPr>
          <p:cNvSpPr txBox="1"/>
          <p:nvPr/>
        </p:nvSpPr>
        <p:spPr>
          <a:xfrm>
            <a:off x="1152694" y="5158036"/>
            <a:ext cx="54168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>
                <a:effectLst/>
                <a:latin typeface="Times" pitchFamily="2" charset="0"/>
              </a:rPr>
              <a:t>R will return all of the values in the column as a </a:t>
            </a:r>
            <a:r>
              <a:rPr lang="da-DK" b="1">
                <a:effectLst/>
                <a:latin typeface="Times" pitchFamily="2" charset="0"/>
              </a:rPr>
              <a:t>vector</a:t>
            </a:r>
            <a:r>
              <a:rPr lang="da-DK">
                <a:effectLst/>
                <a:latin typeface="Times" pitchFamily="2" charset="0"/>
              </a:rPr>
              <a:t>. </a:t>
            </a:r>
          </a:p>
          <a:p>
            <a:r>
              <a:rPr lang="da-DK">
                <a:latin typeface="Times" pitchFamily="2" charset="0"/>
              </a:rPr>
              <a:t>Unless lst[1]. Single brackets return a </a:t>
            </a:r>
            <a:r>
              <a:rPr lang="da-DK" b="1">
                <a:latin typeface="Times" pitchFamily="2" charset="0"/>
              </a:rPr>
              <a:t>list</a:t>
            </a:r>
            <a:endParaRPr lang="da-DK" b="1">
              <a:effectLst/>
              <a:latin typeface="Times" pitchFamily="2" charset="0"/>
            </a:endParaRPr>
          </a:p>
        </p:txBody>
      </p:sp>
      <p:pic>
        <p:nvPicPr>
          <p:cNvPr id="5" name="Billede 4" descr="Et billede, der indeholder tekst, Font/skrifttype, skærmbillede, linje/række&#10;&#10;Automatisk genereret beskrivelse">
            <a:extLst>
              <a:ext uri="{FF2B5EF4-FFF2-40B4-BE49-F238E27FC236}">
                <a16:creationId xmlns:a16="http://schemas.microsoft.com/office/drawing/2014/main" id="{DC5A3C35-3B67-99E2-75DF-DF5C57638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378" y="3526218"/>
            <a:ext cx="1474216" cy="851094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C8128532-01DD-1E9D-139B-36ECF2CC9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1378" y="4642043"/>
            <a:ext cx="1079500" cy="304800"/>
          </a:xfrm>
          <a:prstGeom prst="rect">
            <a:avLst/>
          </a:prstGeom>
        </p:spPr>
      </p:pic>
      <p:sp>
        <p:nvSpPr>
          <p:cNvPr id="9" name="Tekstfelt 8">
            <a:extLst>
              <a:ext uri="{FF2B5EF4-FFF2-40B4-BE49-F238E27FC236}">
                <a16:creationId xmlns:a16="http://schemas.microsoft.com/office/drawing/2014/main" id="{8D400018-5BC2-C09B-7A63-6A3796426455}"/>
              </a:ext>
            </a:extLst>
          </p:cNvPr>
          <p:cNvSpPr txBox="1"/>
          <p:nvPr/>
        </p:nvSpPr>
        <p:spPr>
          <a:xfrm>
            <a:off x="2929353" y="3161136"/>
            <a:ext cx="51046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400"/>
              <a:t>lst &lt;- list(numbers = c(1, 2), logical = TRUE, strings = c("a", "b", "c"))</a:t>
            </a:r>
          </a:p>
        </p:txBody>
      </p:sp>
      <p:pic>
        <p:nvPicPr>
          <p:cNvPr id="18" name="Billede 17">
            <a:extLst>
              <a:ext uri="{FF2B5EF4-FFF2-40B4-BE49-F238E27FC236}">
                <a16:creationId xmlns:a16="http://schemas.microsoft.com/office/drawing/2014/main" id="{22B30C77-10D6-092F-D06E-BB1D59FB23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941" y="4858217"/>
            <a:ext cx="32512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507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kstfelt 9">
            <a:extLst>
              <a:ext uri="{FF2B5EF4-FFF2-40B4-BE49-F238E27FC236}">
                <a16:creationId xmlns:a16="http://schemas.microsoft.com/office/drawing/2014/main" id="{A1D49D26-89EA-F693-941C-2A50BF95EE40}"/>
              </a:ext>
            </a:extLst>
          </p:cNvPr>
          <p:cNvSpPr txBox="1"/>
          <p:nvPr/>
        </p:nvSpPr>
        <p:spPr>
          <a:xfrm>
            <a:off x="537616" y="232147"/>
            <a:ext cx="114627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3600">
                <a:effectLst/>
                <a:latin typeface="Helvetica" pitchFamily="2" charset="0"/>
              </a:rPr>
              <a:t>Chap 4 –How to </a:t>
            </a:r>
            <a:r>
              <a:rPr lang="da-DK" sz="3600" b="1">
                <a:effectLst/>
                <a:latin typeface="Helvetica" pitchFamily="2" charset="0"/>
              </a:rPr>
              <a:t>change</a:t>
            </a:r>
            <a:r>
              <a:rPr lang="da-DK" sz="3600">
                <a:effectLst/>
                <a:latin typeface="Helvetica" pitchFamily="2" charset="0"/>
              </a:rPr>
              <a:t> data in a non-logical way</a:t>
            </a:r>
          </a:p>
          <a:p>
            <a:endParaRPr lang="da-DK" sz="3600">
              <a:effectLst/>
              <a:latin typeface="Helvetica" pitchFamily="2" charset="0"/>
            </a:endParaRPr>
          </a:p>
        </p:txBody>
      </p:sp>
      <p:sp>
        <p:nvSpPr>
          <p:cNvPr id="2" name="Tekstfelt 1">
            <a:extLst>
              <a:ext uri="{FF2B5EF4-FFF2-40B4-BE49-F238E27FC236}">
                <a16:creationId xmlns:a16="http://schemas.microsoft.com/office/drawing/2014/main" id="{41B6F07C-F9E7-310A-C16D-6ABFB043DA4E}"/>
              </a:ext>
            </a:extLst>
          </p:cNvPr>
          <p:cNvSpPr txBox="1"/>
          <p:nvPr/>
        </p:nvSpPr>
        <p:spPr>
          <a:xfrm>
            <a:off x="537616" y="1063144"/>
            <a:ext cx="1782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/>
              <a:t>CRUD operations</a:t>
            </a:r>
          </a:p>
        </p:txBody>
      </p:sp>
      <p:pic>
        <p:nvPicPr>
          <p:cNvPr id="4" name="Billede 3" descr="Et billede, der indeholder tekst, Font/skrifttype, design&#10;&#10;Automatisk genereret beskrivelse">
            <a:extLst>
              <a:ext uri="{FF2B5EF4-FFF2-40B4-BE49-F238E27FC236}">
                <a16:creationId xmlns:a16="http://schemas.microsoft.com/office/drawing/2014/main" id="{D77904F6-B354-F739-E9AD-78A479229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8720"/>
            <a:ext cx="2175304" cy="200028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Håndskrift 4">
                <a:extLst>
                  <a:ext uri="{FF2B5EF4-FFF2-40B4-BE49-F238E27FC236}">
                    <a16:creationId xmlns:a16="http://schemas.microsoft.com/office/drawing/2014/main" id="{079EAECD-6018-032C-B7AF-ADFD64F9BC00}"/>
                  </a:ext>
                </a:extLst>
              </p14:cNvPr>
              <p14:cNvContentPartPr/>
              <p14:nvPr/>
            </p14:nvContentPartPr>
            <p14:xfrm>
              <a:off x="1556718" y="2719508"/>
              <a:ext cx="1232280" cy="262080"/>
            </p14:xfrm>
          </p:contentPart>
        </mc:Choice>
        <mc:Fallback xmlns="">
          <p:pic>
            <p:nvPicPr>
              <p:cNvPr id="5" name="Håndskrift 4">
                <a:extLst>
                  <a:ext uri="{FF2B5EF4-FFF2-40B4-BE49-F238E27FC236}">
                    <a16:creationId xmlns:a16="http://schemas.microsoft.com/office/drawing/2014/main" id="{079EAECD-6018-032C-B7AF-ADFD64F9BC0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52398" y="2715188"/>
                <a:ext cx="1240920" cy="27072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Billede 6" descr="Et billede, der indeholder tekst, Font/skrifttype, nummer/tal, skærmbillede&#10;&#10;Automatisk genereret beskrivelse">
            <a:extLst>
              <a:ext uri="{FF2B5EF4-FFF2-40B4-BE49-F238E27FC236}">
                <a16:creationId xmlns:a16="http://schemas.microsoft.com/office/drawing/2014/main" id="{9370F2BF-79D3-2CF9-8024-237F133307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5740" y="1890142"/>
            <a:ext cx="3024488" cy="21828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Håndskrift 11">
                <a:extLst>
                  <a:ext uri="{FF2B5EF4-FFF2-40B4-BE49-F238E27FC236}">
                    <a16:creationId xmlns:a16="http://schemas.microsoft.com/office/drawing/2014/main" id="{B3F4EECE-8A70-2C03-AE24-64E1124E4720}"/>
                  </a:ext>
                </a:extLst>
              </p14:cNvPr>
              <p14:cNvContentPartPr/>
              <p14:nvPr/>
            </p14:nvContentPartPr>
            <p14:xfrm>
              <a:off x="4164918" y="3139988"/>
              <a:ext cx="376560" cy="317160"/>
            </p14:xfrm>
          </p:contentPart>
        </mc:Choice>
        <mc:Fallback xmlns="">
          <p:pic>
            <p:nvPicPr>
              <p:cNvPr id="12" name="Håndskrift 11">
                <a:extLst>
                  <a:ext uri="{FF2B5EF4-FFF2-40B4-BE49-F238E27FC236}">
                    <a16:creationId xmlns:a16="http://schemas.microsoft.com/office/drawing/2014/main" id="{B3F4EECE-8A70-2C03-AE24-64E1124E472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60598" y="3135668"/>
                <a:ext cx="385200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Håndskrift 12">
                <a:extLst>
                  <a:ext uri="{FF2B5EF4-FFF2-40B4-BE49-F238E27FC236}">
                    <a16:creationId xmlns:a16="http://schemas.microsoft.com/office/drawing/2014/main" id="{EF9B9F79-D90D-87F9-2A6A-0BF121BB84C2}"/>
                  </a:ext>
                </a:extLst>
              </p14:cNvPr>
              <p14:cNvContentPartPr/>
              <p14:nvPr/>
            </p14:nvContentPartPr>
            <p14:xfrm>
              <a:off x="6416718" y="3233948"/>
              <a:ext cx="426960" cy="210600"/>
            </p14:xfrm>
          </p:contentPart>
        </mc:Choice>
        <mc:Fallback xmlns="">
          <p:pic>
            <p:nvPicPr>
              <p:cNvPr id="13" name="Håndskrift 12">
                <a:extLst>
                  <a:ext uri="{FF2B5EF4-FFF2-40B4-BE49-F238E27FC236}">
                    <a16:creationId xmlns:a16="http://schemas.microsoft.com/office/drawing/2014/main" id="{EF9B9F79-D90D-87F9-2A6A-0BF121BB84C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12398" y="3229628"/>
                <a:ext cx="435600" cy="21924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kstfelt 13">
            <a:extLst>
              <a:ext uri="{FF2B5EF4-FFF2-40B4-BE49-F238E27FC236}">
                <a16:creationId xmlns:a16="http://schemas.microsoft.com/office/drawing/2014/main" id="{BAF1E5C3-D781-C006-EE28-3A426D7C5CE2}"/>
              </a:ext>
            </a:extLst>
          </p:cNvPr>
          <p:cNvSpPr txBox="1"/>
          <p:nvPr/>
        </p:nvSpPr>
        <p:spPr>
          <a:xfrm>
            <a:off x="6843678" y="3154582"/>
            <a:ext cx="1489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/>
              <a:t>df[[1]][4] = 12</a:t>
            </a:r>
          </a:p>
        </p:txBody>
      </p:sp>
      <p:sp>
        <p:nvSpPr>
          <p:cNvPr id="15" name="Tekstfelt 14">
            <a:extLst>
              <a:ext uri="{FF2B5EF4-FFF2-40B4-BE49-F238E27FC236}">
                <a16:creationId xmlns:a16="http://schemas.microsoft.com/office/drawing/2014/main" id="{4B684E8D-BBC0-B524-0D06-020A544C7AA7}"/>
              </a:ext>
            </a:extLst>
          </p:cNvPr>
          <p:cNvSpPr txBox="1"/>
          <p:nvPr/>
        </p:nvSpPr>
        <p:spPr>
          <a:xfrm>
            <a:off x="6843678" y="3471743"/>
            <a:ext cx="2038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/>
              <a:t>df$numbers[4] = 12</a:t>
            </a:r>
          </a:p>
        </p:txBody>
      </p:sp>
      <p:sp>
        <p:nvSpPr>
          <p:cNvPr id="16" name="Tekstfelt 15">
            <a:extLst>
              <a:ext uri="{FF2B5EF4-FFF2-40B4-BE49-F238E27FC236}">
                <a16:creationId xmlns:a16="http://schemas.microsoft.com/office/drawing/2014/main" id="{2A4801DC-962D-0E33-DAFA-DB1F247B7A01}"/>
              </a:ext>
            </a:extLst>
          </p:cNvPr>
          <p:cNvSpPr txBox="1"/>
          <p:nvPr/>
        </p:nvSpPr>
        <p:spPr>
          <a:xfrm>
            <a:off x="6843678" y="2782669"/>
            <a:ext cx="28094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i="1">
                <a:effectLst/>
                <a:latin typeface="Helvetica" pitchFamily="2" charset="0"/>
              </a:rPr>
              <a:t>Changing Values in Place</a:t>
            </a:r>
          </a:p>
          <a:p>
            <a:endParaRPr lang="da-DK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7" name="Håndskrift 16">
                <a:extLst>
                  <a:ext uri="{FF2B5EF4-FFF2-40B4-BE49-F238E27FC236}">
                    <a16:creationId xmlns:a16="http://schemas.microsoft.com/office/drawing/2014/main" id="{D66E4D81-8E74-398B-B8EE-421E1DF293AB}"/>
                  </a:ext>
                </a:extLst>
              </p14:cNvPr>
              <p14:cNvContentPartPr/>
              <p14:nvPr/>
            </p14:nvContentPartPr>
            <p14:xfrm>
              <a:off x="1634118" y="3285068"/>
              <a:ext cx="1833840" cy="1398600"/>
            </p14:xfrm>
          </p:contentPart>
        </mc:Choice>
        <mc:Fallback xmlns="">
          <p:pic>
            <p:nvPicPr>
              <p:cNvPr id="17" name="Håndskrift 16">
                <a:extLst>
                  <a:ext uri="{FF2B5EF4-FFF2-40B4-BE49-F238E27FC236}">
                    <a16:creationId xmlns:a16="http://schemas.microsoft.com/office/drawing/2014/main" id="{D66E4D81-8E74-398B-B8EE-421E1DF293A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29798" y="3280748"/>
                <a:ext cx="1842480" cy="140724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kstfelt 18">
            <a:extLst>
              <a:ext uri="{FF2B5EF4-FFF2-40B4-BE49-F238E27FC236}">
                <a16:creationId xmlns:a16="http://schemas.microsoft.com/office/drawing/2014/main" id="{D76EDE3E-11A2-F61C-86D6-7848A689E80F}"/>
              </a:ext>
            </a:extLst>
          </p:cNvPr>
          <p:cNvSpPr txBox="1"/>
          <p:nvPr/>
        </p:nvSpPr>
        <p:spPr>
          <a:xfrm>
            <a:off x="3684468" y="4373541"/>
            <a:ext cx="2086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/>
              <a:t>df$numbers[4] = NA</a:t>
            </a:r>
          </a:p>
        </p:txBody>
      </p:sp>
      <p:sp>
        <p:nvSpPr>
          <p:cNvPr id="20" name="Tekstfelt 19">
            <a:extLst>
              <a:ext uri="{FF2B5EF4-FFF2-40B4-BE49-F238E27FC236}">
                <a16:creationId xmlns:a16="http://schemas.microsoft.com/office/drawing/2014/main" id="{89363CC1-FE15-6E9B-34B0-679520158CEF}"/>
              </a:ext>
            </a:extLst>
          </p:cNvPr>
          <p:cNvSpPr txBox="1"/>
          <p:nvPr/>
        </p:nvSpPr>
        <p:spPr>
          <a:xfrm>
            <a:off x="3684468" y="4742873"/>
            <a:ext cx="1985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/>
              <a:t>df$numbers= NULL</a:t>
            </a:r>
          </a:p>
        </p:txBody>
      </p:sp>
      <p:sp>
        <p:nvSpPr>
          <p:cNvPr id="21" name="Tekstfelt 20">
            <a:extLst>
              <a:ext uri="{FF2B5EF4-FFF2-40B4-BE49-F238E27FC236}">
                <a16:creationId xmlns:a16="http://schemas.microsoft.com/office/drawing/2014/main" id="{CA5490B3-F55F-7C60-3D68-3D151202D95D}"/>
              </a:ext>
            </a:extLst>
          </p:cNvPr>
          <p:cNvSpPr txBox="1"/>
          <p:nvPr/>
        </p:nvSpPr>
        <p:spPr>
          <a:xfrm>
            <a:off x="7636476" y="4337222"/>
            <a:ext cx="41168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/>
              <a:t>Øvelse:</a:t>
            </a:r>
          </a:p>
          <a:p>
            <a:r>
              <a:rPr lang="da-DK"/>
              <a:t>Undersøg fejlen ved df$numbers[4]=NULL</a:t>
            </a:r>
          </a:p>
          <a:p>
            <a:r>
              <a:rPr lang="da-DK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05984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kstfelt 9">
            <a:extLst>
              <a:ext uri="{FF2B5EF4-FFF2-40B4-BE49-F238E27FC236}">
                <a16:creationId xmlns:a16="http://schemas.microsoft.com/office/drawing/2014/main" id="{A1D49D26-89EA-F693-941C-2A50BF95EE40}"/>
              </a:ext>
            </a:extLst>
          </p:cNvPr>
          <p:cNvSpPr txBox="1"/>
          <p:nvPr/>
        </p:nvSpPr>
        <p:spPr>
          <a:xfrm>
            <a:off x="537616" y="232147"/>
            <a:ext cx="114627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3600">
                <a:effectLst/>
                <a:latin typeface="Helvetica" pitchFamily="2" charset="0"/>
              </a:rPr>
              <a:t>Chap 4 –How to </a:t>
            </a:r>
            <a:r>
              <a:rPr lang="da-DK" sz="3600" b="1">
                <a:effectLst/>
                <a:latin typeface="Helvetica" pitchFamily="2" charset="0"/>
              </a:rPr>
              <a:t>subset</a:t>
            </a:r>
            <a:r>
              <a:rPr lang="da-DK" sz="3600">
                <a:effectLst/>
                <a:latin typeface="Helvetica" pitchFamily="2" charset="0"/>
              </a:rPr>
              <a:t> data with logic</a:t>
            </a: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793649CF-AF94-2E8C-5269-9E27BF9139E8}"/>
              </a:ext>
            </a:extLst>
          </p:cNvPr>
          <p:cNvSpPr txBox="1"/>
          <p:nvPr/>
        </p:nvSpPr>
        <p:spPr>
          <a:xfrm>
            <a:off x="537616" y="1025612"/>
            <a:ext cx="24188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400"/>
              <a:t>Logical Subsetting</a:t>
            </a:r>
            <a:endParaRPr lang="da-DK"/>
          </a:p>
        </p:txBody>
      </p:sp>
      <p:pic>
        <p:nvPicPr>
          <p:cNvPr id="8" name="Billede 7" descr="Et billede, der indeholder tekst, Font/skrifttype, skærmbillede, linje/række&#10;&#10;Automatisk genereret beskrivelse">
            <a:extLst>
              <a:ext uri="{FF2B5EF4-FFF2-40B4-BE49-F238E27FC236}">
                <a16:creationId xmlns:a16="http://schemas.microsoft.com/office/drawing/2014/main" id="{8E47DBF2-C900-92EE-9818-5D88A6B93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16" y="1634411"/>
            <a:ext cx="4735555" cy="2014218"/>
          </a:xfrm>
          <a:prstGeom prst="rect">
            <a:avLst/>
          </a:prstGeom>
        </p:spPr>
      </p:pic>
      <p:pic>
        <p:nvPicPr>
          <p:cNvPr id="11" name="Billede 10" descr="Et billede, der indeholder tekst, Font/skrifttype, hvid, skærmbillede&#10;&#10;Automatisk genereret beskrivelse">
            <a:extLst>
              <a:ext uri="{FF2B5EF4-FFF2-40B4-BE49-F238E27FC236}">
                <a16:creationId xmlns:a16="http://schemas.microsoft.com/office/drawing/2014/main" id="{2E1D049C-CB83-12EE-72EB-B27A06343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142" y="4250725"/>
            <a:ext cx="3367044" cy="1463932"/>
          </a:xfrm>
          <a:prstGeom prst="rect">
            <a:avLst/>
          </a:prstGeom>
        </p:spPr>
      </p:pic>
      <p:sp>
        <p:nvSpPr>
          <p:cNvPr id="18" name="Tekstfelt 17">
            <a:extLst>
              <a:ext uri="{FF2B5EF4-FFF2-40B4-BE49-F238E27FC236}">
                <a16:creationId xmlns:a16="http://schemas.microsoft.com/office/drawing/2014/main" id="{5996195B-0396-F25F-C1CD-08A965AA99B0}"/>
              </a:ext>
            </a:extLst>
          </p:cNvPr>
          <p:cNvSpPr txBox="1"/>
          <p:nvPr/>
        </p:nvSpPr>
        <p:spPr>
          <a:xfrm>
            <a:off x="761142" y="3881393"/>
            <a:ext cx="358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/>
              <a:t>Boolsk returværdi (</a:t>
            </a:r>
            <a:r>
              <a:rPr lang="da-DK" i="1"/>
              <a:t>ved vectorized R</a:t>
            </a:r>
            <a:r>
              <a:rPr lang="da-DK"/>
              <a:t>)</a:t>
            </a:r>
          </a:p>
        </p:txBody>
      </p:sp>
      <p:pic>
        <p:nvPicPr>
          <p:cNvPr id="23" name="Billede 22" descr="Et billede, der indeholder tekst, skærmbillede, nummer/tal, Font/skrifttype&#10;&#10;Automatisk genereret beskrivelse">
            <a:extLst>
              <a:ext uri="{FF2B5EF4-FFF2-40B4-BE49-F238E27FC236}">
                <a16:creationId xmlns:a16="http://schemas.microsoft.com/office/drawing/2014/main" id="{B062A3DA-20A3-A996-1366-FA6B985FBE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3171" y="872030"/>
            <a:ext cx="1766744" cy="2431648"/>
          </a:xfrm>
          <a:prstGeom prst="rect">
            <a:avLst/>
          </a:prstGeom>
        </p:spPr>
      </p:pic>
      <p:pic>
        <p:nvPicPr>
          <p:cNvPr id="27" name="Billede 26">
            <a:extLst>
              <a:ext uri="{FF2B5EF4-FFF2-40B4-BE49-F238E27FC236}">
                <a16:creationId xmlns:a16="http://schemas.microsoft.com/office/drawing/2014/main" id="{0BB7B10F-E1D3-289E-9295-B75D00DBCF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0308" y="3618142"/>
            <a:ext cx="5781072" cy="646331"/>
          </a:xfrm>
          <a:prstGeom prst="rect">
            <a:avLst/>
          </a:prstGeom>
        </p:spPr>
      </p:pic>
      <p:pic>
        <p:nvPicPr>
          <p:cNvPr id="29" name="Billede 28" descr="Et billede, der indeholder tekst, Font/skrifttype, kvittering, nummer/tal&#10;&#10;Automatisk genereret beskrivelse">
            <a:extLst>
              <a:ext uri="{FF2B5EF4-FFF2-40B4-BE49-F238E27FC236}">
                <a16:creationId xmlns:a16="http://schemas.microsoft.com/office/drawing/2014/main" id="{B4C6F92A-C74B-FFB3-2C48-FE8339E452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0308" y="4737929"/>
            <a:ext cx="1710897" cy="1557109"/>
          </a:xfrm>
          <a:prstGeom prst="rect">
            <a:avLst/>
          </a:prstGeom>
        </p:spPr>
      </p:pic>
      <p:pic>
        <p:nvPicPr>
          <p:cNvPr id="31" name="Billede 30">
            <a:extLst>
              <a:ext uri="{FF2B5EF4-FFF2-40B4-BE49-F238E27FC236}">
                <a16:creationId xmlns:a16="http://schemas.microsoft.com/office/drawing/2014/main" id="{A668F185-02EC-7BED-A208-EA87D01ACB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0308" y="4247071"/>
            <a:ext cx="2499229" cy="267093"/>
          </a:xfrm>
          <a:prstGeom prst="rect">
            <a:avLst/>
          </a:prstGeom>
        </p:spPr>
      </p:pic>
      <p:pic>
        <p:nvPicPr>
          <p:cNvPr id="33" name="Billede 32" descr="Et billede, der indeholder tekst, Font/skrifttype, nummer/tal, skærmbillede&#10;&#10;Automatisk genereret beskrivelse">
            <a:extLst>
              <a:ext uri="{FF2B5EF4-FFF2-40B4-BE49-F238E27FC236}">
                <a16:creationId xmlns:a16="http://schemas.microsoft.com/office/drawing/2014/main" id="{8AA706DE-05AD-3FF8-6BD7-F75E311895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1086" y="2131997"/>
            <a:ext cx="1738646" cy="1103012"/>
          </a:xfrm>
          <a:prstGeom prst="rect">
            <a:avLst/>
          </a:prstGeom>
        </p:spPr>
      </p:pic>
      <p:pic>
        <p:nvPicPr>
          <p:cNvPr id="35" name="Billede 34" descr="Et billede, der indeholder tekst, Font/skrifttype, skærmbillede, hvid&#10;&#10;Automatisk genereret beskrivelse">
            <a:extLst>
              <a:ext uri="{FF2B5EF4-FFF2-40B4-BE49-F238E27FC236}">
                <a16:creationId xmlns:a16="http://schemas.microsoft.com/office/drawing/2014/main" id="{16DB248D-4E7E-D86E-015B-946AF64035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11086" y="1190898"/>
            <a:ext cx="4780914" cy="887025"/>
          </a:xfrm>
          <a:prstGeom prst="rect">
            <a:avLst/>
          </a:prstGeom>
        </p:spPr>
      </p:pic>
      <p:pic>
        <p:nvPicPr>
          <p:cNvPr id="41" name="Billede 40" descr="Et billede, der indeholder tekst, Font/skrifttype, nummer/tal, skærmbillede&#10;&#10;Automatisk genereret beskrivelse">
            <a:extLst>
              <a:ext uri="{FF2B5EF4-FFF2-40B4-BE49-F238E27FC236}">
                <a16:creationId xmlns:a16="http://schemas.microsoft.com/office/drawing/2014/main" id="{D1CFE26E-9094-074F-2D5F-835DC738A78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96420" y="2077923"/>
            <a:ext cx="1554486" cy="1417828"/>
          </a:xfrm>
          <a:prstGeom prst="rect">
            <a:avLst/>
          </a:prstGeom>
        </p:spPr>
      </p:pic>
      <p:sp>
        <p:nvSpPr>
          <p:cNvPr id="42" name="Tekstfelt 41">
            <a:extLst>
              <a:ext uri="{FF2B5EF4-FFF2-40B4-BE49-F238E27FC236}">
                <a16:creationId xmlns:a16="http://schemas.microsoft.com/office/drawing/2014/main" id="{FB02EC5C-CE17-A9E2-DDFF-B4A99FB916E5}"/>
              </a:ext>
            </a:extLst>
          </p:cNvPr>
          <p:cNvSpPr txBox="1"/>
          <p:nvPr/>
        </p:nvSpPr>
        <p:spPr>
          <a:xfrm>
            <a:off x="7172994" y="4651439"/>
            <a:ext cx="47576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/>
              <a:t>Øvelse: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/>
              <a:t>Vis hvordan man kan få schild vha sample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/>
              <a:t>Brug == og sum til at tælle antal 15-årige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/>
              <a:t>Lav en dataframe med preteens fra children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/>
              <a:t>Lav en df med dem over 15 og under 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/>
              <a:t>Lav en df med piger over 15  </a:t>
            </a:r>
          </a:p>
          <a:p>
            <a:pPr marL="342900" indent="-342900">
              <a:buFont typeface="+mj-lt"/>
              <a:buAutoNum type="arabicPeriod"/>
            </a:pPr>
            <a:endParaRPr lang="da-DK"/>
          </a:p>
        </p:txBody>
      </p:sp>
      <p:sp>
        <p:nvSpPr>
          <p:cNvPr id="2" name="Tekstfelt 1">
            <a:extLst>
              <a:ext uri="{FF2B5EF4-FFF2-40B4-BE49-F238E27FC236}">
                <a16:creationId xmlns:a16="http://schemas.microsoft.com/office/drawing/2014/main" id="{FD91EF77-7202-4211-EE3E-B4CE834DFF11}"/>
              </a:ext>
            </a:extLst>
          </p:cNvPr>
          <p:cNvSpPr txBox="1"/>
          <p:nvPr/>
        </p:nvSpPr>
        <p:spPr>
          <a:xfrm>
            <a:off x="7421211" y="879437"/>
            <a:ext cx="2668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/>
              <a:t>Opdel i drenge og piger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" name="Håndskrift 3">
                <a:extLst>
                  <a:ext uri="{FF2B5EF4-FFF2-40B4-BE49-F238E27FC236}">
                    <a16:creationId xmlns:a16="http://schemas.microsoft.com/office/drawing/2014/main" id="{C6CA38D0-D192-FF50-909D-02035B589169}"/>
                  </a:ext>
                </a:extLst>
              </p14:cNvPr>
              <p14:cNvContentPartPr/>
              <p14:nvPr/>
            </p14:nvContentPartPr>
            <p14:xfrm>
              <a:off x="6211884" y="3813125"/>
              <a:ext cx="416160" cy="26640"/>
            </p14:xfrm>
          </p:contentPart>
        </mc:Choice>
        <mc:Fallback xmlns="">
          <p:pic>
            <p:nvPicPr>
              <p:cNvPr id="4" name="Håndskrift 3">
                <a:extLst>
                  <a:ext uri="{FF2B5EF4-FFF2-40B4-BE49-F238E27FC236}">
                    <a16:creationId xmlns:a16="http://schemas.microsoft.com/office/drawing/2014/main" id="{C6CA38D0-D192-FF50-909D-02035B58916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202884" y="3804125"/>
                <a:ext cx="43380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" name="Håndskrift 4">
                <a:extLst>
                  <a:ext uri="{FF2B5EF4-FFF2-40B4-BE49-F238E27FC236}">
                    <a16:creationId xmlns:a16="http://schemas.microsoft.com/office/drawing/2014/main" id="{6088E8C8-257B-B106-4616-DA6885A4B2B0}"/>
                  </a:ext>
                </a:extLst>
              </p14:cNvPr>
              <p14:cNvContentPartPr/>
              <p14:nvPr/>
            </p14:nvContentPartPr>
            <p14:xfrm>
              <a:off x="6677724" y="3872165"/>
              <a:ext cx="1427400" cy="1103760"/>
            </p14:xfrm>
          </p:contentPart>
        </mc:Choice>
        <mc:Fallback xmlns="">
          <p:pic>
            <p:nvPicPr>
              <p:cNvPr id="5" name="Håndskrift 4">
                <a:extLst>
                  <a:ext uri="{FF2B5EF4-FFF2-40B4-BE49-F238E27FC236}">
                    <a16:creationId xmlns:a16="http://schemas.microsoft.com/office/drawing/2014/main" id="{6088E8C8-257B-B106-4616-DA6885A4B2B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668724" y="3863525"/>
                <a:ext cx="1445040" cy="11214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kstfelt 8">
            <a:extLst>
              <a:ext uri="{FF2B5EF4-FFF2-40B4-BE49-F238E27FC236}">
                <a16:creationId xmlns:a16="http://schemas.microsoft.com/office/drawing/2014/main" id="{9A97645D-5105-6636-BD90-567342BFEBEE}"/>
              </a:ext>
            </a:extLst>
          </p:cNvPr>
          <p:cNvSpPr txBox="1"/>
          <p:nvPr/>
        </p:nvSpPr>
        <p:spPr>
          <a:xfrm>
            <a:off x="5306423" y="3332069"/>
            <a:ext cx="1907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/>
              <a:t>Subset til teens</a:t>
            </a:r>
          </a:p>
        </p:txBody>
      </p:sp>
    </p:spTree>
    <p:extLst>
      <p:ext uri="{BB962C8B-B14F-4D97-AF65-F5344CB8AC3E}">
        <p14:creationId xmlns:p14="http://schemas.microsoft.com/office/powerpoint/2010/main" val="3947509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76E93-A2BB-7D66-9266-3FE16FEDC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kstfelt 9">
            <a:extLst>
              <a:ext uri="{FF2B5EF4-FFF2-40B4-BE49-F238E27FC236}">
                <a16:creationId xmlns:a16="http://schemas.microsoft.com/office/drawing/2014/main" id="{40397D01-1EE1-A702-867E-82410D14F0CD}"/>
              </a:ext>
            </a:extLst>
          </p:cNvPr>
          <p:cNvSpPr txBox="1"/>
          <p:nvPr/>
        </p:nvSpPr>
        <p:spPr>
          <a:xfrm>
            <a:off x="537616" y="232147"/>
            <a:ext cx="114627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3600">
                <a:effectLst/>
                <a:latin typeface="Helvetica" pitchFamily="2" charset="0"/>
              </a:rPr>
              <a:t>Chap 5 – How to </a:t>
            </a:r>
            <a:r>
              <a:rPr lang="da-DK" sz="3600" b="1">
                <a:effectLst/>
                <a:latin typeface="Helvetica" pitchFamily="2" charset="0"/>
              </a:rPr>
              <a:t>summarise</a:t>
            </a:r>
            <a:r>
              <a:rPr lang="da-DK" sz="3600">
                <a:effectLst/>
                <a:latin typeface="Helvetica" pitchFamily="2" charset="0"/>
              </a:rPr>
              <a:t> data?</a:t>
            </a:r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949EA121-FD3C-6409-D092-A77F6E8BA23E}"/>
              </a:ext>
            </a:extLst>
          </p:cNvPr>
          <p:cNvSpPr txBox="1"/>
          <p:nvPr/>
        </p:nvSpPr>
        <p:spPr>
          <a:xfrm>
            <a:off x="432647" y="1088094"/>
            <a:ext cx="643785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/>
              <a:t>Øvelse: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/>
              <a:t>Indlæs filen bilbasen.csv og beskriv strukturen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/>
              <a:t>Er gennemsnitsprisen på biler i Jylland mindre end på Sjælland?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/>
              <a:t>Subset vha %in% operatoren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/>
              <a:t>Tjek fordelingen af bil-priser på de to regioner</a:t>
            </a:r>
          </a:p>
        </p:txBody>
      </p:sp>
    </p:spTree>
    <p:extLst>
      <p:ext uri="{BB962C8B-B14F-4D97-AF65-F5344CB8AC3E}">
        <p14:creationId xmlns:p14="http://schemas.microsoft.com/office/powerpoint/2010/main" val="17720359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E0B25-4C9F-B4B4-F74C-5E587CCB5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kstfelt 9">
            <a:extLst>
              <a:ext uri="{FF2B5EF4-FFF2-40B4-BE49-F238E27FC236}">
                <a16:creationId xmlns:a16="http://schemas.microsoft.com/office/drawing/2014/main" id="{DD31F1E8-0949-5B42-7C9B-2A57B359BC08}"/>
              </a:ext>
            </a:extLst>
          </p:cNvPr>
          <p:cNvSpPr txBox="1"/>
          <p:nvPr/>
        </p:nvSpPr>
        <p:spPr>
          <a:xfrm>
            <a:off x="537616" y="232147"/>
            <a:ext cx="114627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3600">
                <a:effectLst/>
                <a:latin typeface="Helvetica" pitchFamily="2" charset="0"/>
              </a:rPr>
              <a:t>Chap 7  – How to </a:t>
            </a:r>
            <a:r>
              <a:rPr lang="da-DK" sz="3600" b="1">
                <a:effectLst/>
                <a:latin typeface="Helvetica" pitchFamily="2" charset="0"/>
              </a:rPr>
              <a:t>Program</a:t>
            </a:r>
            <a:r>
              <a:rPr lang="da-DK" sz="3600">
                <a:effectLst/>
                <a:latin typeface="Helvetica" pitchFamily="2" charset="0"/>
              </a:rPr>
              <a:t> data?</a:t>
            </a:r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32D1E06E-B094-0AA1-5C05-A6895A987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16" y="1160815"/>
            <a:ext cx="3213100" cy="2844800"/>
          </a:xfrm>
          <a:prstGeom prst="rect">
            <a:avLst/>
          </a:prstGeom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B861CFAE-D1EF-287F-991F-81C600A9F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402" y="1238666"/>
            <a:ext cx="2255426" cy="1691570"/>
          </a:xfrm>
          <a:prstGeom prst="rect">
            <a:avLst/>
          </a:prstGeom>
        </p:spPr>
      </p:pic>
      <p:sp>
        <p:nvSpPr>
          <p:cNvPr id="6" name="Tekstfelt 5">
            <a:extLst>
              <a:ext uri="{FF2B5EF4-FFF2-40B4-BE49-F238E27FC236}">
                <a16:creationId xmlns:a16="http://schemas.microsoft.com/office/drawing/2014/main" id="{3DF2661D-6DC7-7135-5CAA-7D835C26DE74}"/>
              </a:ext>
            </a:extLst>
          </p:cNvPr>
          <p:cNvSpPr txBox="1"/>
          <p:nvPr/>
        </p:nvSpPr>
        <p:spPr>
          <a:xfrm>
            <a:off x="6096000" y="3250656"/>
            <a:ext cx="460663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/>
              <a:t>R will work through the if conditions until one evaluates to TRUE, then R will </a:t>
            </a:r>
            <a:r>
              <a:rPr lang="da-DK" sz="1600" b="1" i="1"/>
              <a:t>ignore</a:t>
            </a:r>
          </a:p>
          <a:p>
            <a:r>
              <a:rPr lang="da-DK" sz="1600" b="1" i="1"/>
              <a:t>any remaining if and else clauses in the tree</a:t>
            </a:r>
            <a:r>
              <a:rPr lang="da-DK" sz="1600"/>
              <a:t>. If no conditions evaluate to TRUE, R will</a:t>
            </a:r>
          </a:p>
          <a:p>
            <a:r>
              <a:rPr lang="da-DK" sz="1600"/>
              <a:t>run the final else statement.</a:t>
            </a:r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48A58393-1231-8938-8328-B2F8FAE059C5}"/>
              </a:ext>
            </a:extLst>
          </p:cNvPr>
          <p:cNvSpPr txBox="1"/>
          <p:nvPr/>
        </p:nvSpPr>
        <p:spPr>
          <a:xfrm>
            <a:off x="696191" y="5081155"/>
            <a:ext cx="4509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/>
              <a:t>Case: Create categorial variables based on age</a:t>
            </a:r>
          </a:p>
        </p:txBody>
      </p:sp>
    </p:spTree>
    <p:extLst>
      <p:ext uri="{BB962C8B-B14F-4D97-AF65-F5344CB8AC3E}">
        <p14:creationId xmlns:p14="http://schemas.microsoft.com/office/powerpoint/2010/main" val="3811484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A754C-DA78-155F-438D-3CFBA891F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kstfelt 9">
            <a:extLst>
              <a:ext uri="{FF2B5EF4-FFF2-40B4-BE49-F238E27FC236}">
                <a16:creationId xmlns:a16="http://schemas.microsoft.com/office/drawing/2014/main" id="{2F43EDD0-5D9E-7141-7CB2-2E3F35D4EBD9}"/>
              </a:ext>
            </a:extLst>
          </p:cNvPr>
          <p:cNvSpPr txBox="1"/>
          <p:nvPr/>
        </p:nvSpPr>
        <p:spPr>
          <a:xfrm>
            <a:off x="537616" y="232147"/>
            <a:ext cx="114627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3600">
                <a:effectLst/>
                <a:latin typeface="Helvetica" pitchFamily="2" charset="0"/>
              </a:rPr>
              <a:t>Chap X  – How to </a:t>
            </a:r>
            <a:r>
              <a:rPr lang="da-DK" sz="3600" b="1">
                <a:effectLst/>
                <a:latin typeface="Helvetica" pitchFamily="2" charset="0"/>
              </a:rPr>
              <a:t>Aggregate</a:t>
            </a:r>
            <a:r>
              <a:rPr lang="da-DK" sz="3600">
                <a:effectLst/>
                <a:latin typeface="Helvetica" pitchFamily="2" charset="0"/>
              </a:rPr>
              <a:t> data?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31053184-A3F0-F0E8-6A4C-53F183C7A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20" y="1096683"/>
            <a:ext cx="4068618" cy="3350627"/>
          </a:xfrm>
          <a:prstGeom prst="rect">
            <a:avLst/>
          </a:prstGeom>
        </p:spPr>
      </p:pic>
      <p:sp>
        <p:nvSpPr>
          <p:cNvPr id="8" name="Tekstfelt 7">
            <a:extLst>
              <a:ext uri="{FF2B5EF4-FFF2-40B4-BE49-F238E27FC236}">
                <a16:creationId xmlns:a16="http://schemas.microsoft.com/office/drawing/2014/main" id="{6434A36A-06ED-3F3E-570F-40470E876014}"/>
              </a:ext>
            </a:extLst>
          </p:cNvPr>
          <p:cNvSpPr txBox="1"/>
          <p:nvPr/>
        </p:nvSpPr>
        <p:spPr>
          <a:xfrm>
            <a:off x="5465618" y="1330036"/>
            <a:ext cx="266489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/>
              <a:t>Average height pr gender?</a:t>
            </a:r>
          </a:p>
          <a:p>
            <a:r>
              <a:rPr lang="da-DK"/>
              <a:t>Formula: y er height</a:t>
            </a:r>
          </a:p>
          <a:p>
            <a:r>
              <a:rPr lang="da-DK"/>
              <a:t>	x er gender</a:t>
            </a:r>
          </a:p>
          <a:p>
            <a:r>
              <a:rPr lang="da-DK"/>
              <a:t>Data: dfchildren</a:t>
            </a:r>
          </a:p>
          <a:p>
            <a:r>
              <a:rPr lang="da-DK"/>
              <a:t>Function: mean</a:t>
            </a:r>
          </a:p>
          <a:p>
            <a:endParaRPr lang="da-DK"/>
          </a:p>
        </p:txBody>
      </p:sp>
      <p:sp>
        <p:nvSpPr>
          <p:cNvPr id="11" name="Tekstfelt 10">
            <a:extLst>
              <a:ext uri="{FF2B5EF4-FFF2-40B4-BE49-F238E27FC236}">
                <a16:creationId xmlns:a16="http://schemas.microsoft.com/office/drawing/2014/main" id="{4FD1619B-49FB-95EC-E87A-2B2B8932F813}"/>
              </a:ext>
            </a:extLst>
          </p:cNvPr>
          <p:cNvSpPr txBox="1"/>
          <p:nvPr/>
        </p:nvSpPr>
        <p:spPr>
          <a:xfrm>
            <a:off x="5304560" y="3001926"/>
            <a:ext cx="60994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/>
              <a:t>dfh=aggregate(</a:t>
            </a:r>
          </a:p>
          <a:p>
            <a:r>
              <a:rPr lang="da-DK"/>
              <a:t>	x=dfchildres$height, 	by=list(heightmean=dfchildres$sex), </a:t>
            </a:r>
          </a:p>
          <a:p>
            <a:r>
              <a:rPr lang="da-DK"/>
              <a:t>	FUN=mean)</a:t>
            </a:r>
          </a:p>
        </p:txBody>
      </p:sp>
    </p:spTree>
    <p:extLst>
      <p:ext uri="{BB962C8B-B14F-4D97-AF65-F5344CB8AC3E}">
        <p14:creationId xmlns:p14="http://schemas.microsoft.com/office/powerpoint/2010/main" val="39962462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A1CCE-2354-A926-4CC1-C97B2FF64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kstfelt 9">
            <a:extLst>
              <a:ext uri="{FF2B5EF4-FFF2-40B4-BE49-F238E27FC236}">
                <a16:creationId xmlns:a16="http://schemas.microsoft.com/office/drawing/2014/main" id="{57510143-2F96-248D-C4C7-D0689E5C477E}"/>
              </a:ext>
            </a:extLst>
          </p:cNvPr>
          <p:cNvSpPr txBox="1"/>
          <p:nvPr/>
        </p:nvSpPr>
        <p:spPr>
          <a:xfrm>
            <a:off x="537616" y="232147"/>
            <a:ext cx="114627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3600">
                <a:effectLst/>
                <a:latin typeface="Helvetica" pitchFamily="2" charset="0"/>
              </a:rPr>
              <a:t>Chap X  – How to </a:t>
            </a:r>
            <a:r>
              <a:rPr lang="da-DK" sz="3600" b="1">
                <a:latin typeface="Helvetica" pitchFamily="2" charset="0"/>
              </a:rPr>
              <a:t>loop</a:t>
            </a:r>
            <a:r>
              <a:rPr lang="da-DK" sz="3600">
                <a:effectLst/>
                <a:latin typeface="Helvetica" pitchFamily="2" charset="0"/>
              </a:rPr>
              <a:t> data?</a:t>
            </a:r>
          </a:p>
        </p:txBody>
      </p:sp>
      <p:sp>
        <p:nvSpPr>
          <p:cNvPr id="2" name="Tekstfelt 1">
            <a:extLst>
              <a:ext uri="{FF2B5EF4-FFF2-40B4-BE49-F238E27FC236}">
                <a16:creationId xmlns:a16="http://schemas.microsoft.com/office/drawing/2014/main" id="{42F3E270-4E17-F3C0-B308-8045C0ED9893}"/>
              </a:ext>
            </a:extLst>
          </p:cNvPr>
          <p:cNvSpPr txBox="1"/>
          <p:nvPr/>
        </p:nvSpPr>
        <p:spPr>
          <a:xfrm>
            <a:off x="463706" y="1107672"/>
            <a:ext cx="26847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800"/>
              <a:t>a)Non-vectorized</a:t>
            </a:r>
            <a:endParaRPr lang="da-DK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CC39BC54-59FD-E548-5184-6DCA07432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580" y="1107672"/>
            <a:ext cx="5156777" cy="2208639"/>
          </a:xfrm>
          <a:prstGeom prst="rect">
            <a:avLst/>
          </a:prstGeom>
        </p:spPr>
      </p:pic>
      <p:sp>
        <p:nvSpPr>
          <p:cNvPr id="6" name="Tekstfelt 5">
            <a:extLst>
              <a:ext uri="{FF2B5EF4-FFF2-40B4-BE49-F238E27FC236}">
                <a16:creationId xmlns:a16="http://schemas.microsoft.com/office/drawing/2014/main" id="{B3473D3B-CFE7-CE04-F767-980D24229DE0}"/>
              </a:ext>
            </a:extLst>
          </p:cNvPr>
          <p:cNvSpPr txBox="1"/>
          <p:nvPr/>
        </p:nvSpPr>
        <p:spPr>
          <a:xfrm>
            <a:off x="537616" y="3541690"/>
            <a:ext cx="3046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400"/>
              <a:t>b) non-Vectorized .. ish</a:t>
            </a:r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52EDA743-51DE-CF56-0B40-B2CD78584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7624" y="3541690"/>
            <a:ext cx="3650459" cy="1332707"/>
          </a:xfrm>
          <a:prstGeom prst="rect">
            <a:avLst/>
          </a:prstGeom>
        </p:spPr>
      </p:pic>
      <p:pic>
        <p:nvPicPr>
          <p:cNvPr id="12" name="Billede 11">
            <a:extLst>
              <a:ext uri="{FF2B5EF4-FFF2-40B4-BE49-F238E27FC236}">
                <a16:creationId xmlns:a16="http://schemas.microsoft.com/office/drawing/2014/main" id="{51242AC7-DAFF-6F35-C7B1-BF1569732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7624" y="4947744"/>
            <a:ext cx="7772400" cy="579845"/>
          </a:xfrm>
          <a:prstGeom prst="rect">
            <a:avLst/>
          </a:prstGeom>
        </p:spPr>
      </p:pic>
      <p:pic>
        <p:nvPicPr>
          <p:cNvPr id="13" name="Billede 12" descr="2.9 Functions and control structures (for, if/else etc.) | Computational  Genomics with R">
            <a:extLst>
              <a:ext uri="{FF2B5EF4-FFF2-40B4-BE49-F238E27FC236}">
                <a16:creationId xmlns:a16="http://schemas.microsoft.com/office/drawing/2014/main" id="{C6CE7EE7-F240-97AA-5BE7-56911897B9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3300"/>
          <a:stretch>
            <a:fillRect/>
          </a:stretch>
        </p:blipFill>
        <p:spPr>
          <a:xfrm>
            <a:off x="3823815" y="5527589"/>
            <a:ext cx="3554268" cy="11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493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45366</TotalTime>
  <Words>880</Words>
  <Application>Microsoft Macintosh PowerPoint</Application>
  <PresentationFormat>Widescreen</PresentationFormat>
  <Paragraphs>125</Paragraphs>
  <Slides>21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21</vt:i4>
      </vt:variant>
    </vt:vector>
  </HeadingPairs>
  <TitlesOfParts>
    <vt:vector size="27" baseType="lpstr">
      <vt:lpstr>Times</vt:lpstr>
      <vt:lpstr>Arial</vt:lpstr>
      <vt:lpstr>Calibri</vt:lpstr>
      <vt:lpstr>Calibri Light</vt:lpstr>
      <vt:lpstr>Helvetica</vt:lpstr>
      <vt:lpstr>Office-tema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Thorbjørn Wulf (THOR - Adjunkt - Cphbusiness)</dc:creator>
  <cp:lastModifiedBy>Thorbjørn Wulf</cp:lastModifiedBy>
  <cp:revision>48</cp:revision>
  <cp:lastPrinted>2023-08-29T06:21:07Z</cp:lastPrinted>
  <dcterms:created xsi:type="dcterms:W3CDTF">2023-08-01T11:22:27Z</dcterms:created>
  <dcterms:modified xsi:type="dcterms:W3CDTF">2026-09-01T09:47:31Z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2026-08-31T19:45:01Z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9aafd452-b819-40a3-a400-f94ff33b0125</vt:lpwstr>
  </property>
  <property fmtid="{D5CDD505-2E9C-101B-9397-08002B2CF9AE}" pid="7" name="MSIP_Label_defa4170-0d19-0005-0004-bc88714345d2_ActionId">
    <vt:lpwstr>c0c42a0d-48d9-4abe-9efd-1fffb3323649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